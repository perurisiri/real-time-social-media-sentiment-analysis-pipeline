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  <p:embeddedFont>
      <p:font typeface="Comforta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Comfortaa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mforta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ba6f9045_0_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7ba6f9045_0_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7ba6f9045_0_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ba6f9045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d7ba6f9045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7ba6f9045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ba6f9045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d7ba6f9045_2_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7ba6f9045_2_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ba6f9045_2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7ba6f9045_2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7ba6f9045_2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ba6f9045_2_1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7ba6f9045_2_1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7ba6f9045_2_1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ba6f9045_2_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7ba6f9045_2_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7ba6f9045_2_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12409463e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d12409463e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12409463e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7ba6f9045_2_3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d7ba6f9045_2_3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d7ba6f9045_2_3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7ba6f9045_2_4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d7ba6f9045_2_4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7ba6f9045_2_4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7ba6f9045_2_3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d7ba6f9045_2_3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7ba6f9045_2_3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10820757f_0_1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d10820757f_0_1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10820757f_0_1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10820757f_0_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d10820757f_0_2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d10820757f_0_2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10820757f_0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d10820757f_0_1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d10820757f_0_1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10820757f_0_1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d10820757f_0_1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d10820757f_0_1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10820757f_0_1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d10820757f_0_1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10820757f_0_1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10820757f_0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g3d10820757f_0_3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10820757f_0_3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7ba6f9045_2_5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d7ba6f9045_2_5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d7ba6f9045_2_5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manchunhui/us-election-2020-twee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F3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20367" r="20373" t="0"/>
          <a:stretch/>
        </p:blipFill>
        <p:spPr>
          <a:xfrm>
            <a:off x="1112825" y="114025"/>
            <a:ext cx="7068526" cy="52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2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977640" y="502920"/>
            <a:ext cx="1188600" cy="118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7315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Real-Time Social Media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Sentiment Analysis Pipeline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7200" y="32004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alibri"/>
              <a:buNone/>
            </a:pPr>
            <a:r>
              <a:rPr b="0" i="0" lang="en-GB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 Scalable ETL Data Engineering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286000" y="3749040"/>
            <a:ext cx="4572000" cy="27300"/>
          </a:xfrm>
          <a:prstGeom prst="rect">
            <a:avLst/>
          </a:prstGeom>
          <a:solidFill>
            <a:srgbClr val="162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914400" y="388620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br>
              <a:rPr b="0" i="0" lang="en-GB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Gullanki Vara Naga Sai Sree  •  Peruri Sireesha  •  Sahana P  •  Subhadip Sasmal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11475" y="1325875"/>
            <a:ext cx="2651700" cy="33996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11475" y="1325873"/>
            <a:ext cx="2651700" cy="558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576067" y="1468878"/>
            <a:ext cx="438900" cy="381300"/>
          </a:xfrm>
          <a:prstGeom prst="ellipse">
            <a:avLst/>
          </a:prstGeom>
          <a:solidFill>
            <a:srgbClr val="38BDF8">
              <a:alpha val="2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76067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882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530335" y="2697675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30325" y="3349045"/>
            <a:ext cx="23775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</a:rPr>
              <a:t>Raw tweets are streamed in real-time through </a:t>
            </a:r>
            <a:r>
              <a:rPr b="1" lang="en-GB" sz="1100">
                <a:solidFill>
                  <a:schemeClr val="lt1"/>
                </a:solidFill>
              </a:rPr>
              <a:t>AWS Kinesis</a:t>
            </a:r>
            <a:r>
              <a:rPr lang="en-GB" sz="1100">
                <a:solidFill>
                  <a:schemeClr val="lt1"/>
                </a:solidFill>
              </a:rPr>
              <a:t>, capturing live social media data continuously without any delays.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preencoded.png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6657" y="2446067"/>
            <a:ext cx="256032" cy="2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3246125" y="1084550"/>
            <a:ext cx="2651700" cy="36408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246114" y="1325873"/>
            <a:ext cx="2651700" cy="5580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3410705" y="1468878"/>
            <a:ext cx="438900" cy="381300"/>
          </a:xfrm>
          <a:prstGeom prst="ellipse">
            <a:avLst/>
          </a:prstGeom>
          <a:solidFill>
            <a:srgbClr val="818CF8">
              <a:alpha val="20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410705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4520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3383273" y="2692350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383212" y="3299337"/>
            <a:ext cx="2377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GB" sz="1100">
                <a:solidFill>
                  <a:schemeClr val="lt1"/>
                </a:solidFill>
              </a:rPr>
              <a:t>Data is cleaned, filtered, and structured using </a:t>
            </a:r>
            <a:r>
              <a:rPr b="1" lang="en-GB" sz="1100">
                <a:solidFill>
                  <a:schemeClr val="lt1"/>
                </a:solidFill>
              </a:rPr>
              <a:t>Databricks</a:t>
            </a:r>
            <a:r>
              <a:rPr lang="en-GB" sz="1100">
                <a:solidFill>
                  <a:schemeClr val="lt1"/>
                </a:solidFill>
              </a:rPr>
              <a:t> — removing noise, handling duplicates, and transforming it into Delta Tables via a Bronze → Silver → Gold pipeline.</a:t>
            </a:r>
            <a:endParaRPr i="0" sz="1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1295" y="2446067"/>
            <a:ext cx="256032" cy="2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6080750" y="1325875"/>
            <a:ext cx="2651700" cy="33996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080754" y="1325873"/>
            <a:ext cx="2651700" cy="558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245342" y="1468878"/>
            <a:ext cx="438900" cy="381300"/>
          </a:xfrm>
          <a:prstGeom prst="ellipse">
            <a:avLst/>
          </a:prstGeom>
          <a:solidFill>
            <a:srgbClr val="34D399">
              <a:alpha val="20000"/>
            </a:srgbClr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245342" y="1468878"/>
            <a:ext cx="4389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158" y="1977334"/>
            <a:ext cx="694943" cy="603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6217910" y="2692350"/>
            <a:ext cx="2377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6236114" y="3176787"/>
            <a:ext cx="2377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GB" sz="1100">
                <a:solidFill>
                  <a:schemeClr val="lt1"/>
                </a:solidFill>
              </a:rPr>
              <a:t>Processed data is analysed using </a:t>
            </a:r>
            <a:r>
              <a:rPr b="1" lang="en-GB" sz="1100">
                <a:solidFill>
                  <a:schemeClr val="lt1"/>
                </a:solidFill>
              </a:rPr>
              <a:t>sentiment models</a:t>
            </a:r>
            <a:r>
              <a:rPr lang="en-GB" sz="1100">
                <a:solidFill>
                  <a:schemeClr val="lt1"/>
                </a:solidFill>
              </a:rPr>
              <a:t> to extract insights like topic trends, engagement patterns, and influencer impact — visualized through Databricks Lakeview Dashboards</a:t>
            </a:r>
            <a:endParaRPr i="0" sz="1000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56032" y="822960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256032" y="822960"/>
            <a:ext cx="1975104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347472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Databricks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340864" y="822960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340864" y="822960"/>
            <a:ext cx="1975104" cy="45720"/>
          </a:xfrm>
          <a:prstGeom prst="rect">
            <a:avLst/>
          </a:prstGeom>
          <a:solidFill>
            <a:srgbClr val="E25A1C"/>
          </a:solidFill>
          <a:ln cap="flat" cmpd="sng" w="12700">
            <a:solidFill>
              <a:srgbClr val="E25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2384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2432304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425696" y="822960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425696" y="822960"/>
            <a:ext cx="1975104" cy="4572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216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4517136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510528" y="822960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510528" y="822960"/>
            <a:ext cx="1975104" cy="457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2048" y="107899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6601968" y="1682496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56032" y="2578608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256032" y="2578608"/>
            <a:ext cx="1975104" cy="45720"/>
          </a:xfrm>
          <a:prstGeom prst="rect">
            <a:avLst/>
          </a:prstGeom>
          <a:solidFill>
            <a:srgbClr val="017CEE"/>
          </a:solidFill>
          <a:ln cap="flat" cmpd="sng" w="12700">
            <a:solidFill>
              <a:srgbClr val="017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552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347472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 Airflow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2340864" y="2578608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2340864" y="2578608"/>
            <a:ext cx="1975104" cy="45720"/>
          </a:xfrm>
          <a:prstGeom prst="rect">
            <a:avLst/>
          </a:prstGeom>
          <a:solidFill>
            <a:srgbClr val="4A154B"/>
          </a:solidFill>
          <a:ln cap="flat" cmpd="sng" w="12700">
            <a:solidFill>
              <a:srgbClr val="4A15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72384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2432304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425696" y="2578608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425696" y="2578608"/>
            <a:ext cx="1975104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57216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4517136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510528" y="2578608"/>
            <a:ext cx="1975104" cy="155448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510528" y="2578608"/>
            <a:ext cx="1975104" cy="45720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42048" y="283464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6601968" y="3438144"/>
            <a:ext cx="1792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S3 / Kinesis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256025" y="36575"/>
            <a:ext cx="8046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Information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7964182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01588" y="995600"/>
            <a:ext cx="8795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•</a:t>
            </a: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Storage: AWS S3 (s3-socialmedia-trgt-buckt)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Format: CSV → Parquet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Tables: tweets, sentiment, trends, user_metadata, valid_tweets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Key Fields: tweet_id, user_id, text, sentiment, timestamp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CSV → Parquet</a:t>
            </a:r>
            <a:endParaRPr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CSV (S3) → Kinesis → Firehose → Parquet → S3(target)  → Databricks</a:t>
            </a:r>
            <a:endParaRPr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256035" y="39597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0" i="0" lang="en-GB" sz="120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Kaggle — US Election 2020 Tweets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309525" y="621800"/>
            <a:ext cx="47430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Ingestion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Two sources feed data in parallel. S3 handles batch workloads (files dropped periodically), while Kinesis handles real-time streaming events. Both paths converge at the conversion step.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Convert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Raw data from both sources gets serialized into Parquet format — a columnar, compressed file format that makes downstream querying significantly faster and cheaper.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Delta Lake (Medallion Architecture)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Data is refined in 3 progressive layers: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Bronze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raw data landed as-is, no transformations. Your source of truth.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Silver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data is cleaned, deduplicated, and validated. Joins and type-casting happen here.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Gold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→ business-aggregated, ready-to-query tables. Think KPIs, rollups, and domain-specific views.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Consume</a:t>
            </a:r>
            <a:r>
              <a:rPr lang="en-GB" sz="1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— Gold layer tables are exposed directly to BI tools like Tableau, Power BI, or Looker for dashboards and reporting.</a:t>
            </a:r>
            <a:endParaRPr sz="1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75" y="810775"/>
            <a:ext cx="4102249" cy="39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Medallion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56032" y="749808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is organized into three layers — progressively improving quality and 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51475" y="1165924"/>
            <a:ext cx="2724900" cy="37032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256032" y="1207008"/>
            <a:ext cx="2724912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420624" y="1389888"/>
            <a:ext cx="1005840" cy="347472"/>
          </a:xfrm>
          <a:prstGeom prst="rect">
            <a:avLst/>
          </a:prstGeom>
          <a:solidFill>
            <a:srgbClr val="D97706">
              <a:alpha val="20000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420624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880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420624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Ingestion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20624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0" lang="en-GB" sz="9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Raw data stored exactly as received from source. Schema inferred, timestamps and IDs preserved as-is.</a:t>
            </a:r>
            <a:endParaRPr i="0" sz="9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20624" y="2999232"/>
            <a:ext cx="2395728" cy="18288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420624" y="3090672"/>
            <a:ext cx="239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20624" y="338328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20624" y="3383280"/>
            <a:ext cx="45720" cy="2194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48640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tweets_table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20624" y="365760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420624" y="3657600"/>
            <a:ext cx="45720" cy="2194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48640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user_metadata_table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20624" y="393192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20624" y="3931920"/>
            <a:ext cx="45720" cy="2194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48640" y="393192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20624" y="420624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20624" y="4206240"/>
            <a:ext cx="45720" cy="2194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48640" y="420624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trends_table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7228" y="27889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3170675" y="1206999"/>
            <a:ext cx="2724900" cy="36621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172968" y="1207008"/>
            <a:ext cx="2724900" cy="45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337560" y="1389888"/>
            <a:ext cx="1005840" cy="347472"/>
          </a:xfrm>
          <a:prstGeom prst="rect">
            <a:avLst/>
          </a:prstGeom>
          <a:solidFill>
            <a:srgbClr val="94A3B8">
              <a:alpha val="20000"/>
            </a:srgbClr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3337560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5816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3337560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Cleaned &amp; Enriched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337560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0" lang="en-GB" sz="9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cleaning, type casting, deduplication, and enrichment. Joins produce the valid_table.</a:t>
            </a:r>
            <a:endParaRPr i="0" sz="9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37560" y="2999232"/>
            <a:ext cx="2395728" cy="18288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3337560" y="3090672"/>
            <a:ext cx="2395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337560" y="338328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337560" y="3383280"/>
            <a:ext cx="45720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3465576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silver_tweets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337560" y="365760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337560" y="3657600"/>
            <a:ext cx="45720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465576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metadata_table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337560" y="393192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3337560" y="3931920"/>
            <a:ext cx="45720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465576" y="3931920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silver_sentiment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337560" y="420624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3337560" y="4206240"/>
            <a:ext cx="45720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465576" y="420624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silver_t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4164" y="27889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6089900" y="1186474"/>
            <a:ext cx="2724900" cy="36621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6089904" y="1207008"/>
            <a:ext cx="2724912" cy="4572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6254496" y="1389888"/>
            <a:ext cx="1005840" cy="347472"/>
          </a:xfrm>
          <a:prstGeom prst="rect">
            <a:avLst/>
          </a:prstGeom>
          <a:solidFill>
            <a:srgbClr val="FBBF24">
              <a:alpha val="20000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6254496" y="13898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2752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6254496" y="1865376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 Ready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254496" y="2212848"/>
            <a:ext cx="23957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0" lang="en-GB" sz="9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Aggregated datasets optimized for reporting. Feature engineering via dbt transforms.</a:t>
            </a:r>
            <a:endParaRPr i="0" sz="9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254496" y="2999232"/>
            <a:ext cx="2395728" cy="18288"/>
          </a:xfrm>
          <a:prstGeom prst="rect">
            <a:avLst/>
          </a:prstGeom>
          <a:solidFill>
            <a:srgbClr val="1E2D45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254496" y="3090672"/>
            <a:ext cx="239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254496" y="338328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254496" y="3383280"/>
            <a:ext cx="45720" cy="21945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6382512" y="338328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fact_tweet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254496" y="365760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254496" y="3657600"/>
            <a:ext cx="45720" cy="21945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382512" y="365760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fact_trend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254496" y="393192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6254496" y="3931920"/>
            <a:ext cx="45720" cy="21945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6382512" y="3931920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254496" y="4206240"/>
            <a:ext cx="2395728" cy="21945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6254496" y="4206240"/>
            <a:ext cx="45720" cy="21945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6382524" y="4206240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dim_topic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84599" y="4480565"/>
            <a:ext cx="2395800" cy="2196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20687" y="4480565"/>
            <a:ext cx="45600" cy="219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480065" y="4480578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valid</a:t>
            </a: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_table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3335248" y="4480415"/>
            <a:ext cx="2395800" cy="2196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3335248" y="4480415"/>
            <a:ext cx="45600" cy="219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3463264" y="4480415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silver_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6249821" y="4480715"/>
            <a:ext cx="2395800" cy="2196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6249821" y="4480715"/>
            <a:ext cx="45600" cy="2196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377849" y="4480715"/>
            <a:ext cx="2267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dim_</a:t>
            </a:r>
            <a:r>
              <a:rPr lang="en-GB" sz="9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Bronze Layer — Raw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Stores raw ingested data exactly as received from the source — no transformations applied.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56025" y="1092775"/>
            <a:ext cx="2286000" cy="37032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56032" y="1207008"/>
            <a:ext cx="2286000" cy="45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347536" y="1298475"/>
            <a:ext cx="2011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02336" y="1773936"/>
            <a:ext cx="1975200" cy="475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402336" y="1773936"/>
            <a:ext cx="54900" cy="475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12064" y="177393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tweets_table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212848" y="1792224"/>
            <a:ext cx="255900" cy="2559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2212848" y="179222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02336" y="2414016"/>
            <a:ext cx="1975200" cy="475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02336" y="2414016"/>
            <a:ext cx="54900" cy="475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512064" y="241401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user_metadata_table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212848" y="2432304"/>
            <a:ext cx="255900" cy="2559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2212848" y="243230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402336" y="3054096"/>
            <a:ext cx="1975200" cy="475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402336" y="3054096"/>
            <a:ext cx="54900" cy="475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12064" y="305409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2212848" y="3072384"/>
            <a:ext cx="255900" cy="2559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2212848" y="307238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02336" y="3694176"/>
            <a:ext cx="1975200" cy="475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402336" y="3694176"/>
            <a:ext cx="54900" cy="475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512064" y="369417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trends_table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2212848" y="3712464"/>
            <a:ext cx="255900" cy="2559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2212848" y="371246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743200" y="1207008"/>
            <a:ext cx="6144900" cy="34746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2743200" y="1207008"/>
            <a:ext cx="6144900" cy="45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2889504" y="1353312"/>
            <a:ext cx="5852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Ingestion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2889504" y="177393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2889504" y="177393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346704" y="177393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Raw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3346704" y="177393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Load raw tweet, user, sentiment &amp; trend data from CSV files stored in AWS S3.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889504" y="241401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2889504" y="241401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346704" y="241401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346704" y="241401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Detect column types automatically. Timestamps stored as STRING, scores as DOUBLE, IDs as STRING.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2889504" y="305409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2889504" y="305409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3346704" y="305409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Ingestion Timestamp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346704" y="305409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Append ingested_at column on every record to track when data entered the pipeline.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2889504" y="3694176"/>
            <a:ext cx="347400" cy="347400"/>
          </a:xfrm>
          <a:prstGeom prst="ellipse">
            <a:avLst/>
          </a:prstGeom>
          <a:solidFill>
            <a:srgbClr val="38BDF8">
              <a:alpha val="20000"/>
            </a:srgbClr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2889504" y="369417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3346704" y="3694176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File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346704" y="3694176"/>
            <a:ext cx="537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Output clean records to valid_table and flag malformed rows for review.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65836" y="4306826"/>
            <a:ext cx="1975200" cy="475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365836" y="4306826"/>
            <a:ext cx="54900" cy="475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475564" y="4306826"/>
            <a:ext cx="182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lang="en-GB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valid_table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2176348" y="4325114"/>
            <a:ext cx="255900" cy="2559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176348" y="432511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1" lang="en-GB" sz="800"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Silver Layer — Clean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256032" y="749808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Performs data cleaning, validation, and standardization.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256032" y="1207008"/>
            <a:ext cx="4023360" cy="347472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256032" y="1207008"/>
            <a:ext cx="4023360" cy="4572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402336" y="13533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02336" y="1810512"/>
            <a:ext cx="201168" cy="20116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694944" y="1792224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tweet_timestamp STRING → TIMESTAMP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402336" y="2304288"/>
            <a:ext cx="201168" cy="20116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694944" y="2286000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trend_timestamp STRING →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02336" y="2798064"/>
            <a:ext cx="201168" cy="20116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694944" y="2779776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Standardize user_id DOUBLE → 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402336" y="3291840"/>
            <a:ext cx="201168" cy="20116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694944" y="3273552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Remove duplicate timestamp 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402336" y="3785616"/>
            <a:ext cx="201168" cy="20116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694944" y="3767328"/>
            <a:ext cx="34381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Convert tweets.timestamp STRING → TIMESTAMP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4462272" y="1207008"/>
            <a:ext cx="4425696" cy="347472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4462272" y="1207008"/>
            <a:ext cx="4425696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4608576" y="13533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Data Enrichment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4608576" y="1810512"/>
            <a:ext cx="201168" cy="201168"/>
          </a:xfrm>
          <a:prstGeom prst="ellipse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901184" y="17922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Join tweets + sentiment → valid_table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4608576" y="2304288"/>
            <a:ext cx="201168" cy="201168"/>
          </a:xfrm>
          <a:prstGeom prst="ellipse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901184" y="2286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Extract hashtags from each post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4608576" y="2798064"/>
            <a:ext cx="201168" cy="201168"/>
          </a:xfrm>
          <a:prstGeom prst="ellipse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901184" y="27797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Extract date &amp; hour from timestamps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4608576" y="3291840"/>
            <a:ext cx="201168" cy="201168"/>
          </a:xfrm>
          <a:prstGeom prst="ellipse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4901184" y="3273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Compute engagement metrics per tweet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256032" y="4663440"/>
            <a:ext cx="8631936" cy="128016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256032" y="4315968"/>
            <a:ext cx="2011680" cy="38404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256032" y="4315968"/>
            <a:ext cx="54864" cy="38404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347472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silver_tweets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322576" y="4315968"/>
            <a:ext cx="2011680" cy="38404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2322576" y="4315968"/>
            <a:ext cx="54864" cy="38404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2414016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389120" y="4315968"/>
            <a:ext cx="2011680" cy="38404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4389120" y="4315968"/>
            <a:ext cx="54864" cy="38404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4480560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silver_sentiment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6455664" y="4315968"/>
            <a:ext cx="2011680" cy="38404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6455664" y="4315968"/>
            <a:ext cx="54864" cy="38404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6547104" y="4315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 silver_topics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Layer — Analytics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964182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Aggregated datasets optimized for analytics and reporting, powered by dbt feature engineering.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256032" y="1207008"/>
            <a:ext cx="4023300" cy="23775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256032" y="1207008"/>
            <a:ext cx="4023300" cy="456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402336" y="1353312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fact_tweet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402336" y="1810512"/>
            <a:ext cx="54900" cy="2559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530352" y="1810512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tweet_id, user_id, topic_id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2286000" y="18105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Primary &amp; foreign keys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402336" y="2157984"/>
            <a:ext cx="54900" cy="2559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530352" y="2157984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sentiment_label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2286000" y="215798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Classified sentiment (pos/neg/neutral)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02336" y="2505456"/>
            <a:ext cx="54900" cy="2559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530352" y="2505456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2286000" y="250545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Geographic dimension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402336" y="2852928"/>
            <a:ext cx="54900" cy="2559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530352" y="285292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engagement_rate_pct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2286000" y="28529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Engagement metric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402336" y="3200400"/>
            <a:ext cx="54900" cy="2559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530352" y="320040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is_valid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2286000" y="32004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 quality flag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4462272" y="1207008"/>
            <a:ext cx="4425600" cy="23775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4462272" y="1207008"/>
            <a:ext cx="4425600" cy="456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4608576" y="1353312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fact_trend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608576" y="1810512"/>
            <a:ext cx="54900" cy="2559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4736592" y="18105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trend_timestamp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6583680" y="1810512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trend was recorded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4608576" y="2157984"/>
            <a:ext cx="54900" cy="2559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4736592" y="215798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6583680" y="2157984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Trend intensity score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608576" y="2505456"/>
            <a:ext cx="54900" cy="2559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4736592" y="250545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trend_strength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6583680" y="2505456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Categorical strength label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4608576" y="2852928"/>
            <a:ext cx="54900" cy="2559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4736592" y="28529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is_top3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6583680" y="2852928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trending flag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4608576" y="3200400"/>
            <a:ext cx="54900" cy="2559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4736592" y="32004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country_id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6583680" y="3200400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0" lang="en-GB" sz="8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Geographic dimension</a:t>
            </a:r>
            <a:endParaRPr i="0" sz="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256032" y="3767328"/>
            <a:ext cx="8631900" cy="7314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256032" y="3767328"/>
            <a:ext cx="63900" cy="73140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420624" y="38221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Feature Engineering via dbt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20624" y="409651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0" lang="en-GB" sz="95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sentiment_score · engagement_score · topic_category — dbt transforms raw Silver data into analytics-ready Gold features</a:t>
            </a:r>
            <a:endParaRPr i="0" sz="9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54864" y="0"/>
            <a:ext cx="9089136" cy="658368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256032" y="36576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Model — Star Schema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256032" y="491947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7955280" y="49194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Fact and dimension tables designed for efficient analytical queries in Databricks SQL.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12" y="998700"/>
            <a:ext cx="8741724" cy="376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256032" y="36576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Validation — Data Quality Checks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260700" y="1102950"/>
            <a:ext cx="39450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🥉 Bronze Layer</a:t>
            </a:r>
            <a:r>
              <a:rPr lang="en-GB" sz="1300">
                <a:solidFill>
                  <a:schemeClr val="lt1"/>
                </a:solidFill>
              </a:rPr>
              <a:t> — Raw Ingestion Checks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Schema &amp; table existence verified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Column naming convention (lowercase enforced)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ingested_at</a:t>
            </a:r>
            <a:r>
              <a:rPr lang="en-GB" sz="1300">
                <a:solidFill>
                  <a:schemeClr val="lt1"/>
                </a:solidFill>
              </a:rPr>
              <a:t> never null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NULL threshold &lt; 10% allowed (raw data tolerance)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Basic duplicate awareness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440" name="Google Shape;440;p25"/>
          <p:cNvSpPr txBox="1"/>
          <p:nvPr/>
        </p:nvSpPr>
        <p:spPr>
          <a:xfrm>
            <a:off x="4350250" y="1102950"/>
            <a:ext cx="5297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</a:rPr>
              <a:t>🥈 Silver Layer — Clean Data Checks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Strict duplicate removal on </a:t>
            </a: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tweet_id</a:t>
            </a:r>
            <a:r>
              <a:rPr lang="en-GB" sz="1300">
                <a:solidFill>
                  <a:schemeClr val="lt1"/>
                </a:solidFill>
              </a:rPr>
              <a:t> &amp; </a:t>
            </a:r>
            <a:r>
              <a:rPr lang="en-GB" sz="13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user_id</a:t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No nulls in critical columns (tweet_id, tweet_text, user_id)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Sentiment score range validated (−1 to +1)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Timestamp &amp; engagement values verified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Text cleaning confirmed (no empty/null strings)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41" name="Google Shape;441;p25"/>
          <p:cNvSpPr txBox="1"/>
          <p:nvPr/>
        </p:nvSpPr>
        <p:spPr>
          <a:xfrm>
            <a:off x="1805925" y="3074525"/>
            <a:ext cx="8205000" cy="1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</a:rPr>
              <a:t>🥇 Gold Layer</a:t>
            </a:r>
            <a:r>
              <a:rPr lang="en-GB" sz="1300">
                <a:solidFill>
                  <a:schemeClr val="lt1"/>
                </a:solidFill>
              </a:rPr>
              <a:t> — Business Layer Checks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Dimension &amp; fact tables existence confirmed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 sz="1300">
                <a:solidFill>
                  <a:schemeClr val="lt1"/>
                </a:solidFill>
              </a:rPr>
              <a:t>Soft validations (monitoring, not blocking):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Duplicate user ratio logged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Engagement rate % within 0–100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Sentiment label only: Positive / Negative / Neutral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-GB" sz="1300">
                <a:solidFill>
                  <a:schemeClr val="lt1"/>
                </a:solidFill>
              </a:rPr>
              <a:t>FK null ratios tracked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Pipeline Orchestration — Apache Airflow DAG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3">
            <a:alphaModFix/>
          </a:blip>
          <a:srcRect b="14998" l="0" r="0" t="12966"/>
          <a:stretch/>
        </p:blipFill>
        <p:spPr>
          <a:xfrm>
            <a:off x="278000" y="658500"/>
            <a:ext cx="8587999" cy="24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375825" y="3298100"/>
            <a:ext cx="20217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S3 Sensor</a:t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Waits for bronze_*.csv files in source bucket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Polls every 60s, times out at 10 min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627725" y="3388675"/>
            <a:ext cx="252900" cy="20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2619000" y="3298100"/>
            <a:ext cx="35979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Stream Setup (parallel, x5)</a:t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Creates 5 Kinesis streams (metadata, sentiment, trends, tweets, valid)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Each Kinesis → paired Firehose → lands in S3 as Parquet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1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2859675" y="3388675"/>
            <a:ext cx="252900" cy="201300"/>
          </a:xfrm>
          <a:prstGeom prst="rightArrow">
            <a:avLst>
              <a:gd fmla="val 50000" name="adj1"/>
              <a:gd fmla="val 4567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6126075" y="3204875"/>
            <a:ext cx="2787600" cy="21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              </a:t>
            </a:r>
            <a:r>
              <a:rPr b="1"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Databricks Trigger</a:t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Fires DatabricksRunNowOperator after all streams are ready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Kicks off Bronze → Silver → Gold transformation pipeline</a:t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1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6321839" y="3295450"/>
            <a:ext cx="205800" cy="201300"/>
          </a:xfrm>
          <a:prstGeom prst="rightArrow">
            <a:avLst>
              <a:gd fmla="val 50000" name="adj1"/>
              <a:gd fmla="val 4567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7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Overview, tweet activity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7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25" y="658500"/>
            <a:ext cx="4354224" cy="336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7"/>
          <p:cNvPicPr preferRelativeResize="0"/>
          <p:nvPr/>
        </p:nvPicPr>
        <p:blipFill rotWithShape="1">
          <a:blip r:embed="rId4">
            <a:alphaModFix/>
          </a:blip>
          <a:srcRect b="1286" l="0" r="0" t="1286"/>
          <a:stretch/>
        </p:blipFill>
        <p:spPr>
          <a:xfrm>
            <a:off x="4698450" y="658500"/>
            <a:ext cx="4354225" cy="337208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7"/>
          <p:cNvSpPr txBox="1"/>
          <p:nvPr/>
        </p:nvSpPr>
        <p:spPr>
          <a:xfrm>
            <a:off x="138300" y="3954825"/>
            <a:ext cx="43542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The Overview Dashboard tracks daily tweet volume, sentiment breakdown, and geographic reach across top countries — all in one unified view. It highlights top topics like AI, Finance, Cloud, and Sports while monitoring engagement trends over time.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4673375" y="3988250"/>
            <a:ext cx="42780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The Tweet Activity Dashboard highlights key metrics — </a:t>
            </a:r>
            <a:r>
              <a:rPr b="1" lang="en-GB" sz="1100">
                <a:solidFill>
                  <a:schemeClr val="lt1"/>
                </a:solidFill>
              </a:rPr>
              <a:t>24K avg tweets/day</a:t>
            </a:r>
            <a:r>
              <a:rPr lang="en-GB" sz="1100">
                <a:solidFill>
                  <a:schemeClr val="lt1"/>
                </a:solidFill>
              </a:rPr>
              <a:t>, a peak hour at </a:t>
            </a:r>
            <a:r>
              <a:rPr b="1" lang="en-GB" sz="1100">
                <a:solidFill>
                  <a:schemeClr val="lt1"/>
                </a:solidFill>
              </a:rPr>
              <a:t>12 PM</a:t>
            </a:r>
            <a:r>
              <a:rPr lang="en-GB" sz="1100">
                <a:solidFill>
                  <a:schemeClr val="lt1"/>
                </a:solidFill>
              </a:rPr>
              <a:t>, and </a:t>
            </a:r>
            <a:r>
              <a:rPr b="1" lang="en-GB" sz="1100">
                <a:solidFill>
                  <a:schemeClr val="lt1"/>
                </a:solidFill>
              </a:rPr>
              <a:t>146M total likes</a:t>
            </a:r>
            <a:r>
              <a:rPr lang="en-GB" sz="1100">
                <a:solidFill>
                  <a:schemeClr val="lt1"/>
                </a:solidFill>
              </a:rPr>
              <a:t> for January 2025. It breaks down activity by hour, day of week, and engagement mix, showing Thursdays and midday as the highest-traffic windows.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 Sentiment Analysis, Trend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8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138300" y="4023900"/>
            <a:ext cx="4354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Shows positive vs. negative sentiment split across AI, Finance, Cloud, and Sports topics — with Finance leading at 113K positive tweets and sentiment scores fluctuating near neutral throughout January.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4673375" y="3988250"/>
            <a:ext cx="42780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</a:rPr>
              <a:t>Categorizes tweets by trend strength — Low, Trending, Growing, and Viral — with Canada leading in trend score and overall sentiment remaining consistently positive across all five countries throughout January 2025.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00" y="741925"/>
            <a:ext cx="4245663" cy="324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500" y="775350"/>
            <a:ext cx="4458874" cy="31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Live Dashboard —  Users &amp; influence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25" y="795025"/>
            <a:ext cx="8263051" cy="33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9"/>
          <p:cNvSpPr txBox="1"/>
          <p:nvPr/>
        </p:nvSpPr>
        <p:spPr>
          <a:xfrm>
            <a:off x="322800" y="4138075"/>
            <a:ext cx="8196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Breaks down user influence across countries — Canada leads with ~50K avg followers — segmenting users into Macro Influencers, Micro Influencers, and Regular Users. Higher influence scores clearly correlate with stronger engagement across all regions.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0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54864" y="0"/>
            <a:ext cx="9089100" cy="6585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7" y="1"/>
            <a:ext cx="804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54864" y="4910328"/>
            <a:ext cx="9089100" cy="23310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/>
          <p:nvPr/>
        </p:nvSpPr>
        <p:spPr>
          <a:xfrm>
            <a:off x="256032" y="4919472"/>
            <a:ext cx="7680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256032" y="7498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0" lang="en-GB" sz="11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findings extracted from the sentiment analysis pipeline across 2020 US election Twitter data.</a:t>
            </a:r>
            <a:endParaRPr i="0" sz="11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256032" y="1243584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256032" y="1243584"/>
            <a:ext cx="2743200" cy="456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0" name="Google Shape;5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0"/>
          <p:cNvSpPr/>
          <p:nvPr/>
        </p:nvSpPr>
        <p:spPr>
          <a:xfrm>
            <a:off x="914400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 Trends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420624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Public sentiment spikes sharply during presidential debates and major campaign events, revealing emotional inflection points.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3127248" y="1243584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3127248" y="1243584"/>
            <a:ext cx="2743200" cy="4560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0"/>
          <p:cNvSpPr/>
          <p:nvPr/>
        </p:nvSpPr>
        <p:spPr>
          <a:xfrm>
            <a:off x="3785616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Trending Topics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0"/>
          <p:cNvSpPr/>
          <p:nvPr/>
        </p:nvSpPr>
        <p:spPr>
          <a:xfrm>
            <a:off x="3291840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Certain hashtags completely dominate the conversation during major events, with engagement concentrated among a small set.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8" name="Google Shape;528;p30"/>
          <p:cNvSpPr/>
          <p:nvPr/>
        </p:nvSpPr>
        <p:spPr>
          <a:xfrm>
            <a:off x="5998464" y="1243584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5998464" y="1243584"/>
            <a:ext cx="2743200" cy="456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0" name="Google Shape;5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3056" y="140817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/>
          <p:nvPr/>
        </p:nvSpPr>
        <p:spPr>
          <a:xfrm>
            <a:off x="6656832" y="1426464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Influential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6163056" y="1920240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Verified accounts generate significantly more engagement — 3-5× higher retweet rates compared to non-verified users.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256032" y="2999232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/>
          <p:nvPr/>
        </p:nvSpPr>
        <p:spPr>
          <a:xfrm>
            <a:off x="256032" y="2999232"/>
            <a:ext cx="2743200" cy="45600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5" name="Google Shape;53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624" y="316382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0"/>
          <p:cNvSpPr/>
          <p:nvPr/>
        </p:nvSpPr>
        <p:spPr>
          <a:xfrm>
            <a:off x="914400" y="3182112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Engagement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420624" y="3675888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Tweets expressing strong opinions (positive or negative) consistently attract higher engagement than neutral statements.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3127248" y="2999232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3127248" y="2999232"/>
            <a:ext cx="2743200" cy="45600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91840" y="316382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0"/>
          <p:cNvSpPr/>
          <p:nvPr/>
        </p:nvSpPr>
        <p:spPr>
          <a:xfrm>
            <a:off x="3785616" y="3182112"/>
            <a:ext cx="19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Time-Based Patterns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3291840" y="3675888"/>
            <a:ext cx="2414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i="0" lang="en-GB" sz="9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Sentiment fluctuates significantly during live political debates, with real-time spikes detectable within minutes.</a:t>
            </a:r>
            <a:endParaRPr i="0" sz="9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5998464" y="2999232"/>
            <a:ext cx="2743200" cy="1572900"/>
          </a:xfrm>
          <a:prstGeom prst="rect">
            <a:avLst/>
          </a:prstGeom>
          <a:solidFill>
            <a:srgbClr val="0D1526"/>
          </a:solidFill>
          <a:ln cap="flat" cmpd="sng" w="9525">
            <a:solidFill>
              <a:srgbClr val="1E2D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5998464" y="2999232"/>
            <a:ext cx="2743200" cy="456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5998464" y="2999232"/>
            <a:ext cx="2743200" cy="1572900"/>
          </a:xfrm>
          <a:prstGeom prst="rect">
            <a:avLst/>
          </a:prstGeom>
          <a:solidFill>
            <a:srgbClr val="071A2E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5998464" y="2999232"/>
            <a:ext cx="2743200" cy="456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6163056" y="3127248"/>
            <a:ext cx="241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Pipeline Impact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6163056" y="3438144"/>
            <a:ext cx="2414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i="0" lang="en-GB" sz="1000" u="none" cap="none" strike="noStrik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Real-time insights</a:t>
            </a:r>
            <a:endParaRPr i="0" sz="1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i="0" lang="en-GB" sz="1000" u="none" cap="none" strike="noStrik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delivered in &lt; 60s</a:t>
            </a:r>
            <a:endParaRPr i="0" sz="1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i="0" lang="en-GB" sz="1000" u="none" cap="none" strike="noStrike">
                <a:solidFill>
                  <a:srgbClr val="E2E8F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end-to-end latency</a:t>
            </a:r>
            <a:endParaRPr i="0" sz="1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1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54864" y="0"/>
            <a:ext cx="9089136" cy="5143500"/>
          </a:xfrm>
          <a:prstGeom prst="rect">
            <a:avLst/>
          </a:prstGeom>
          <a:solidFill>
            <a:srgbClr val="080D1A"/>
          </a:solidFill>
          <a:ln cap="flat" cmpd="sng" w="12700">
            <a:solidFill>
              <a:srgbClr val="080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38BDF8">
              <a:alpha val="7058"/>
            </a:srgbClr>
          </a:solidFill>
          <a:ln cap="flat" cmpd="sng" w="12700">
            <a:solidFill>
              <a:srgbClr val="38BDF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6400800" y="2286000"/>
            <a:ext cx="2286000" cy="2286000"/>
          </a:xfrm>
          <a:prstGeom prst="ellipse">
            <a:avLst/>
          </a:prstGeom>
          <a:solidFill>
            <a:srgbClr val="818CF8">
              <a:alpha val="12156"/>
            </a:srgbClr>
          </a:solidFill>
          <a:ln cap="flat" cmpd="sng" w="12700">
            <a:solidFill>
              <a:srgbClr val="818CF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256032" y="109728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GB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256032" y="2377440"/>
            <a:ext cx="274320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256032" y="2523744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0" lang="en-GB" sz="1100" u="none" cap="none" strike="noStrike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project demonstrates a scalable ETL pipeline for real-time social media sentiment analysis using modern data engineering tools and best practices.</a:t>
            </a:r>
            <a:endParaRPr i="0" sz="11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256032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256032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Amazon Kinesis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1700784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1"/>
          <p:cNvSpPr/>
          <p:nvPr/>
        </p:nvSpPr>
        <p:spPr>
          <a:xfrm>
            <a:off x="1700784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Databricks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3145536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1"/>
          <p:cNvSpPr/>
          <p:nvPr/>
        </p:nvSpPr>
        <p:spPr>
          <a:xfrm>
            <a:off x="3145536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4590288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4590288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6035040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1"/>
          <p:cNvSpPr/>
          <p:nvPr/>
        </p:nvSpPr>
        <p:spPr>
          <a:xfrm>
            <a:off x="6035040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/>
          <p:nvPr/>
        </p:nvSpPr>
        <p:spPr>
          <a:xfrm>
            <a:off x="7479792" y="3383280"/>
            <a:ext cx="1353312" cy="329184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1"/>
          <p:cNvSpPr/>
          <p:nvPr/>
        </p:nvSpPr>
        <p:spPr>
          <a:xfrm>
            <a:off x="7479792" y="3383280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256032" y="3913632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Gullanki Vara Naga Sai Sree  ·  Peruri Sireesha  ·  Sahana P  ·  Subhadip Sasmal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54864" y="4910328"/>
            <a:ext cx="9089136" cy="233172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0F1F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1"/>
          <p:cNvSpPr/>
          <p:nvPr/>
        </p:nvSpPr>
        <p:spPr>
          <a:xfrm>
            <a:off x="256032" y="4919472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Social Media Sentiment Analysis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7955280" y="4919472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GB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GB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