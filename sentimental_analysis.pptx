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Comfortaa" panose="020B0604020202020204" charset="0"/>
      <p:regular r:id="rId25"/>
      <p:bold r:id="rId26"/>
    </p:embeddedFont>
    <p:embeddedFont>
      <p:font typeface="Comic Sans MS" panose="030F0702030302020204" pitchFamily="66" charset="0"/>
      <p:regular r:id="rId27"/>
      <p:bold r:id="rId28"/>
      <p:italic r:id="rId29"/>
      <p:boldItalic r:id="rId30"/>
    </p:embeddedFont>
    <p:embeddedFont>
      <p:font typeface="Georgia" panose="02040502050405020303" pitchFamily="18" charset="0"/>
      <p:regular r:id="rId31"/>
      <p:bold r:id="rId32"/>
      <p:italic r:id="rId33"/>
      <p:boldItalic r:id="rId34"/>
    </p:embeddedFont>
    <p:embeddedFont>
      <p:font typeface="Roboto Mono" panose="020B0604020202020204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816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font" Target="fonts/font1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font" Target="fonts/font17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font" Target="fonts/font1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font" Target="fonts/font1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7ba6f9045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g3d7ba6f9045_0_14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g3d7ba6f9045_0_14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d7ba6f9045_2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" name="Google Shape;71;g3d7ba6f9045_2_21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g3d7ba6f9045_2_21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7ba6f9045_2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3d7ba6f9045_2_55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g3d7ba6f9045_2_55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d7ba6f9045_2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d7ba6f9045_2_97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g3d7ba6f9045_2_97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d7ba6f9045_2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g3d7ba6f9045_2_148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g3d7ba6f9045_2_148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d7ba6f9045_2_1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g3d7ba6f9045_2_197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g3d7ba6f9045_2_197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d12409463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0" name="Google Shape;260;g3d12409463e_0_0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g3d12409463e_0_0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d7ba6f9045_2_3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9" name="Google Shape;319;g3d7ba6f9045_2_326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g3d7ba6f9045_2_326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d7ba6f9045_2_4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8" name="Google Shape;368;g3d7ba6f9045_2_428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g3d7ba6f9045_2_428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d7ba6f9045_2_3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0" name="Google Shape;420;g3d7ba6f9045_2_374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g3d7ba6f9045_2_374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d10820757f_0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3" name="Google Shape;433;g3d10820757f_0_179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g3d10820757f_0_179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d10820757f_0_2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7" name="Google Shape;447;g3d10820757f_0_239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g3d10820757f_0_239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d10820757f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5" name="Google Shape;465;g3d10820757f_0_112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g3d10820757f_0_112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d10820757f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0" name="Google Shape;480;g3d10820757f_0_134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1" name="Google Shape;481;g3d10820757f_0_134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d10820757f_0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5" name="Google Shape;495;g3d10820757f_0_156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g3d10820757f_0_156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d10820757f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8" name="Google Shape;508;g3d10820757f_0_33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g3d10820757f_0_33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d7ba6f9045_2_5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1" name="Google Shape;551;g3d7ba6f9045_2_521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2" name="Google Shape;552;g3d7ba6f9045_2_521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14:gallery dir="l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manchunhui/us-election-2020-tweets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F38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4"/>
          <p:cNvPicPr preferRelativeResize="0"/>
          <p:nvPr/>
        </p:nvPicPr>
        <p:blipFill rotWithShape="1">
          <a:blip r:embed="rId3">
            <a:alphaModFix/>
          </a:blip>
          <a:srcRect l="20367" r="20373"/>
          <a:stretch/>
        </p:blipFill>
        <p:spPr>
          <a:xfrm>
            <a:off x="1112825" y="114025"/>
            <a:ext cx="7068526" cy="5295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6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0" y="0"/>
            <a:ext cx="73200" cy="51435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5"/>
          <p:cNvSpPr/>
          <p:nvPr/>
        </p:nvSpPr>
        <p:spPr>
          <a:xfrm>
            <a:off x="3977640" y="502920"/>
            <a:ext cx="1188600" cy="1188600"/>
          </a:xfrm>
          <a:prstGeom prst="ellipse">
            <a:avLst/>
          </a:prstGeom>
          <a:solidFill>
            <a:srgbClr val="1DA1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4" name="Google Shape;64;p1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06240" y="731520"/>
            <a:ext cx="731520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5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Georgia"/>
              <a:buNone/>
            </a:pPr>
            <a:r>
              <a:rPr lang="en-GB" sz="34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Real-Time Social Media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Georgia"/>
              <a:buNone/>
            </a:pPr>
            <a:r>
              <a:rPr lang="en-GB" sz="34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Sentiment Analysis Pipeline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5"/>
          <p:cNvSpPr/>
          <p:nvPr/>
        </p:nvSpPr>
        <p:spPr>
          <a:xfrm>
            <a:off x="457200" y="3200400"/>
            <a:ext cx="8229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500"/>
              <a:buFont typeface="Calibri"/>
              <a:buNone/>
            </a:pPr>
            <a:r>
              <a:rPr lang="en-GB" sz="1500" b="0" i="0" u="none" strike="noStrike" cap="non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A Scalable ETL Data Engineering Project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2286000" y="3749040"/>
            <a:ext cx="4572000" cy="27300"/>
          </a:xfrm>
          <a:prstGeom prst="rect">
            <a:avLst/>
          </a:prstGeom>
          <a:solidFill>
            <a:srgbClr val="1620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15"/>
          <p:cNvSpPr/>
          <p:nvPr/>
        </p:nvSpPr>
        <p:spPr>
          <a:xfrm>
            <a:off x="914400" y="3886200"/>
            <a:ext cx="73152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GB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Presented by</a:t>
            </a:r>
            <a:br>
              <a:rPr lang="en-GB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GB" sz="11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Gullanki Vara Naga Sai Sree  •  Peruri Sireesha  •  Sahana P  •  Subhadip Sasmal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A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8BDF8"/>
          </a:solidFill>
          <a:ln w="127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6"/>
          <p:cNvSpPr/>
          <p:nvPr/>
        </p:nvSpPr>
        <p:spPr>
          <a:xfrm>
            <a:off x="54864" y="0"/>
            <a:ext cx="9089136" cy="658368"/>
          </a:xfrm>
          <a:prstGeom prst="rect">
            <a:avLst/>
          </a:prstGeom>
          <a:solidFill>
            <a:srgbClr val="0F1F38"/>
          </a:solidFill>
          <a:ln w="12700" cap="flat" cmpd="sng">
            <a:solidFill>
              <a:srgbClr val="0F1F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6"/>
          <p:cNvSpPr/>
          <p:nvPr/>
        </p:nvSpPr>
        <p:spPr>
          <a:xfrm>
            <a:off x="256032" y="36576"/>
            <a:ext cx="8046720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GB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Overview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6"/>
          <p:cNvSpPr/>
          <p:nvPr/>
        </p:nvSpPr>
        <p:spPr>
          <a:xfrm>
            <a:off x="54864" y="4910328"/>
            <a:ext cx="9089136" cy="233172"/>
          </a:xfrm>
          <a:prstGeom prst="rect">
            <a:avLst/>
          </a:prstGeom>
          <a:solidFill>
            <a:srgbClr val="0F1F38"/>
          </a:solidFill>
          <a:ln w="12700" cap="flat" cmpd="sng">
            <a:solidFill>
              <a:srgbClr val="0F1F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16"/>
          <p:cNvSpPr/>
          <p:nvPr/>
        </p:nvSpPr>
        <p:spPr>
          <a:xfrm>
            <a:off x="256032" y="4919472"/>
            <a:ext cx="7680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GB" sz="8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Real-Time Social Media Sentiment Analysis Pipeline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7955280" y="491947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GB" sz="8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 / 1</a:t>
            </a:r>
            <a:r>
              <a:rPr lang="en-GB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411475" y="1325875"/>
            <a:ext cx="2651700" cy="3399600"/>
          </a:xfrm>
          <a:prstGeom prst="rect">
            <a:avLst/>
          </a:prstGeom>
          <a:solidFill>
            <a:srgbClr val="0D1526"/>
          </a:solidFill>
          <a:ln w="9525" cap="flat" cmpd="sng">
            <a:solidFill>
              <a:srgbClr val="1E2D4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16"/>
          <p:cNvSpPr/>
          <p:nvPr/>
        </p:nvSpPr>
        <p:spPr>
          <a:xfrm>
            <a:off x="411475" y="1325873"/>
            <a:ext cx="2651700" cy="55800"/>
          </a:xfrm>
          <a:prstGeom prst="rect">
            <a:avLst/>
          </a:prstGeom>
          <a:solidFill>
            <a:srgbClr val="38BDF8"/>
          </a:solidFill>
          <a:ln w="127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6"/>
          <p:cNvSpPr/>
          <p:nvPr/>
        </p:nvSpPr>
        <p:spPr>
          <a:xfrm>
            <a:off x="576067" y="1468878"/>
            <a:ext cx="438900" cy="381300"/>
          </a:xfrm>
          <a:prstGeom prst="ellipse">
            <a:avLst/>
          </a:prstGeom>
          <a:solidFill>
            <a:srgbClr val="38BDF8">
              <a:alpha val="20000"/>
            </a:srgbClr>
          </a:solidFill>
          <a:ln w="127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6"/>
          <p:cNvSpPr/>
          <p:nvPr/>
        </p:nvSpPr>
        <p:spPr>
          <a:xfrm>
            <a:off x="576067" y="1468878"/>
            <a:ext cx="438900" cy="3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400"/>
              <a:buFont typeface="Calibri"/>
              <a:buNone/>
            </a:pPr>
            <a:r>
              <a:rPr lang="en-GB" sz="1400" b="1" i="0" u="none" strike="noStrike" cap="non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" name="Google Shape;84;p1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89882" y="1977334"/>
            <a:ext cx="694943" cy="603791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6"/>
          <p:cNvSpPr/>
          <p:nvPr/>
        </p:nvSpPr>
        <p:spPr>
          <a:xfrm>
            <a:off x="530335" y="2697675"/>
            <a:ext cx="23775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lang="en-GB" sz="1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Ingest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530325" y="3349045"/>
            <a:ext cx="2377500" cy="12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8100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lt1"/>
                </a:solidFill>
              </a:rPr>
              <a:t>Raw tweets are streamed in real-time through </a:t>
            </a:r>
            <a:r>
              <a:rPr lang="en-GB" sz="1100" b="1">
                <a:solidFill>
                  <a:schemeClr val="lt1"/>
                </a:solidFill>
              </a:rPr>
              <a:t>AWS Kinesis</a:t>
            </a:r>
            <a:r>
              <a:rPr lang="en-GB" sz="1100">
                <a:solidFill>
                  <a:schemeClr val="lt1"/>
                </a:solidFill>
              </a:rPr>
              <a:t>, capturing live social media data continuously without any delays.</a:t>
            </a:r>
            <a:endParaRPr sz="1100">
              <a:solidFill>
                <a:schemeClr val="lt1"/>
              </a:solidFill>
            </a:endParaRPr>
          </a:p>
          <a:p>
            <a:pPr marL="0" marR="0" lvl="0" indent="0" algn="ctr" rtl="0">
              <a:spcBef>
                <a:spcPts val="120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endParaRPr sz="10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87" name="Google Shape;87;p1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26657" y="2446067"/>
            <a:ext cx="256032" cy="222449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6"/>
          <p:cNvSpPr/>
          <p:nvPr/>
        </p:nvSpPr>
        <p:spPr>
          <a:xfrm>
            <a:off x="3246125" y="1084550"/>
            <a:ext cx="2651700" cy="3640800"/>
          </a:xfrm>
          <a:prstGeom prst="rect">
            <a:avLst/>
          </a:prstGeom>
          <a:solidFill>
            <a:srgbClr val="0D1526"/>
          </a:solidFill>
          <a:ln w="9525" cap="flat" cmpd="sng">
            <a:solidFill>
              <a:srgbClr val="1E2D4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6"/>
          <p:cNvSpPr/>
          <p:nvPr/>
        </p:nvSpPr>
        <p:spPr>
          <a:xfrm>
            <a:off x="3246114" y="1325873"/>
            <a:ext cx="2651700" cy="55800"/>
          </a:xfrm>
          <a:prstGeom prst="rect">
            <a:avLst/>
          </a:prstGeom>
          <a:solidFill>
            <a:srgbClr val="818CF8"/>
          </a:solidFill>
          <a:ln w="12700" cap="flat" cmpd="sng">
            <a:solidFill>
              <a:srgbClr val="818C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16"/>
          <p:cNvSpPr/>
          <p:nvPr/>
        </p:nvSpPr>
        <p:spPr>
          <a:xfrm>
            <a:off x="3410705" y="1468878"/>
            <a:ext cx="438900" cy="381300"/>
          </a:xfrm>
          <a:prstGeom prst="ellipse">
            <a:avLst/>
          </a:prstGeom>
          <a:solidFill>
            <a:srgbClr val="818CF8">
              <a:alpha val="20000"/>
            </a:srgbClr>
          </a:solidFill>
          <a:ln w="12700" cap="flat" cmpd="sng">
            <a:solidFill>
              <a:srgbClr val="818C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6"/>
          <p:cNvSpPr/>
          <p:nvPr/>
        </p:nvSpPr>
        <p:spPr>
          <a:xfrm>
            <a:off x="3410705" y="1468878"/>
            <a:ext cx="438900" cy="3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18CF8"/>
              </a:buClr>
              <a:buSzPts val="1400"/>
              <a:buFont typeface="Calibri"/>
              <a:buNone/>
            </a:pPr>
            <a:r>
              <a:rPr lang="en-GB" sz="1400" b="1" i="0" u="none" strike="noStrike" cap="none">
                <a:solidFill>
                  <a:srgbClr val="818CF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" name="Google Shape;92;p1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24520" y="1977334"/>
            <a:ext cx="694943" cy="60379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6"/>
          <p:cNvSpPr/>
          <p:nvPr/>
        </p:nvSpPr>
        <p:spPr>
          <a:xfrm>
            <a:off x="3383273" y="2692350"/>
            <a:ext cx="23775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lang="en-GB" sz="1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Process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3383212" y="3299337"/>
            <a:ext cx="2377500" cy="8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GB" sz="1100">
                <a:solidFill>
                  <a:schemeClr val="lt1"/>
                </a:solidFill>
              </a:rPr>
              <a:t>Data is cleaned, filtered, and structured using </a:t>
            </a:r>
            <a:r>
              <a:rPr lang="en-GB" sz="1100" b="1">
                <a:solidFill>
                  <a:schemeClr val="lt1"/>
                </a:solidFill>
              </a:rPr>
              <a:t>Databricks</a:t>
            </a:r>
            <a:r>
              <a:rPr lang="en-GB" sz="1100">
                <a:solidFill>
                  <a:schemeClr val="lt1"/>
                </a:solidFill>
              </a:rPr>
              <a:t> — removing noise, handling duplicates, and transforming it into Delta Tables via a Bronze → Silver → Gold pipeline.</a:t>
            </a:r>
            <a:endParaRPr sz="1000" i="0" u="none" strike="noStrike" cap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95" name="Google Shape;95;p1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61295" y="2446067"/>
            <a:ext cx="256032" cy="222449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6"/>
          <p:cNvSpPr/>
          <p:nvPr/>
        </p:nvSpPr>
        <p:spPr>
          <a:xfrm>
            <a:off x="6080750" y="1325875"/>
            <a:ext cx="2651700" cy="3399600"/>
          </a:xfrm>
          <a:prstGeom prst="rect">
            <a:avLst/>
          </a:prstGeom>
          <a:solidFill>
            <a:srgbClr val="0D1526"/>
          </a:solidFill>
          <a:ln w="9525" cap="flat" cmpd="sng">
            <a:solidFill>
              <a:srgbClr val="1E2D4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6"/>
          <p:cNvSpPr/>
          <p:nvPr/>
        </p:nvSpPr>
        <p:spPr>
          <a:xfrm>
            <a:off x="6080754" y="1325873"/>
            <a:ext cx="2651700" cy="55800"/>
          </a:xfrm>
          <a:prstGeom prst="rect">
            <a:avLst/>
          </a:prstGeom>
          <a:solidFill>
            <a:srgbClr val="34D399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6"/>
          <p:cNvSpPr/>
          <p:nvPr/>
        </p:nvSpPr>
        <p:spPr>
          <a:xfrm>
            <a:off x="6245342" y="1468878"/>
            <a:ext cx="438900" cy="381300"/>
          </a:xfrm>
          <a:prstGeom prst="ellipse">
            <a:avLst/>
          </a:prstGeom>
          <a:solidFill>
            <a:srgbClr val="34D399">
              <a:alpha val="20000"/>
            </a:srgbClr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6"/>
          <p:cNvSpPr/>
          <p:nvPr/>
        </p:nvSpPr>
        <p:spPr>
          <a:xfrm>
            <a:off x="6245342" y="1468878"/>
            <a:ext cx="438900" cy="3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400"/>
              <a:buFont typeface="Calibri"/>
              <a:buNone/>
            </a:pPr>
            <a:r>
              <a:rPr lang="en-GB" sz="1400" b="1" i="0" u="none" strike="noStrike" cap="non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16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059158" y="1977334"/>
            <a:ext cx="694943" cy="60379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6"/>
          <p:cNvSpPr/>
          <p:nvPr/>
        </p:nvSpPr>
        <p:spPr>
          <a:xfrm>
            <a:off x="6217910" y="2692350"/>
            <a:ext cx="23775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lang="en-GB" sz="1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Analyse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6"/>
          <p:cNvSpPr/>
          <p:nvPr/>
        </p:nvSpPr>
        <p:spPr>
          <a:xfrm>
            <a:off x="6236114" y="3176787"/>
            <a:ext cx="2377500" cy="8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GB" sz="1100">
                <a:solidFill>
                  <a:schemeClr val="lt1"/>
                </a:solidFill>
              </a:rPr>
              <a:t>Processed data is analysed using </a:t>
            </a:r>
            <a:r>
              <a:rPr lang="en-GB" sz="1100" b="1">
                <a:solidFill>
                  <a:schemeClr val="lt1"/>
                </a:solidFill>
              </a:rPr>
              <a:t>sentiment models</a:t>
            </a:r>
            <a:r>
              <a:rPr lang="en-GB" sz="1100">
                <a:solidFill>
                  <a:schemeClr val="lt1"/>
                </a:solidFill>
              </a:rPr>
              <a:t> to extract insights like topic trends, engagement patterns, and influencer impact — visualized through Databricks Lakeview Dashboards</a:t>
            </a:r>
            <a:endParaRPr sz="1000" i="0" strike="noStrike" cap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A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8BDF8"/>
          </a:solidFill>
          <a:ln w="127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17"/>
          <p:cNvSpPr/>
          <p:nvPr/>
        </p:nvSpPr>
        <p:spPr>
          <a:xfrm>
            <a:off x="54864" y="0"/>
            <a:ext cx="9089136" cy="658368"/>
          </a:xfrm>
          <a:prstGeom prst="rect">
            <a:avLst/>
          </a:prstGeom>
          <a:solidFill>
            <a:srgbClr val="0F1F38"/>
          </a:solidFill>
          <a:ln w="12700" cap="flat" cmpd="sng">
            <a:solidFill>
              <a:srgbClr val="0F1F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7"/>
          <p:cNvSpPr/>
          <p:nvPr/>
        </p:nvSpPr>
        <p:spPr>
          <a:xfrm>
            <a:off x="256032" y="36576"/>
            <a:ext cx="8046720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GB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Technologies Used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7"/>
          <p:cNvSpPr/>
          <p:nvPr/>
        </p:nvSpPr>
        <p:spPr>
          <a:xfrm>
            <a:off x="54864" y="4910328"/>
            <a:ext cx="9089136" cy="233172"/>
          </a:xfrm>
          <a:prstGeom prst="rect">
            <a:avLst/>
          </a:prstGeom>
          <a:solidFill>
            <a:srgbClr val="0F1F38"/>
          </a:solidFill>
          <a:ln w="12700" cap="flat" cmpd="sng">
            <a:solidFill>
              <a:srgbClr val="0F1F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17"/>
          <p:cNvSpPr/>
          <p:nvPr/>
        </p:nvSpPr>
        <p:spPr>
          <a:xfrm>
            <a:off x="256032" y="4919472"/>
            <a:ext cx="7680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GB" sz="8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Real-Time Social Media Sentiment Analysis Pipeline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7"/>
          <p:cNvSpPr/>
          <p:nvPr/>
        </p:nvSpPr>
        <p:spPr>
          <a:xfrm>
            <a:off x="7955280" y="491947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GB" sz="8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3 / 1</a:t>
            </a:r>
            <a:r>
              <a:rPr lang="en-GB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7"/>
          <p:cNvSpPr/>
          <p:nvPr/>
        </p:nvSpPr>
        <p:spPr>
          <a:xfrm>
            <a:off x="256032" y="822960"/>
            <a:ext cx="1975104" cy="1554480"/>
          </a:xfrm>
          <a:prstGeom prst="rect">
            <a:avLst/>
          </a:prstGeom>
          <a:solidFill>
            <a:srgbClr val="0D1526"/>
          </a:solidFill>
          <a:ln w="9525" cap="flat" cmpd="sng">
            <a:solidFill>
              <a:srgbClr val="1E2D4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17"/>
          <p:cNvSpPr/>
          <p:nvPr/>
        </p:nvSpPr>
        <p:spPr>
          <a:xfrm>
            <a:off x="256032" y="822960"/>
            <a:ext cx="1975104" cy="45720"/>
          </a:xfrm>
          <a:prstGeom prst="rect">
            <a:avLst/>
          </a:prstGeom>
          <a:solidFill>
            <a:srgbClr val="38BDF8"/>
          </a:solidFill>
          <a:ln w="127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6" name="Google Shape;116;p1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7552" y="1078992"/>
            <a:ext cx="512064" cy="512064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7"/>
          <p:cNvSpPr/>
          <p:nvPr/>
        </p:nvSpPr>
        <p:spPr>
          <a:xfrm>
            <a:off x="347472" y="1682496"/>
            <a:ext cx="1792224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GB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Databricks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7"/>
          <p:cNvSpPr/>
          <p:nvPr/>
        </p:nvSpPr>
        <p:spPr>
          <a:xfrm>
            <a:off x="2340864" y="822960"/>
            <a:ext cx="1975104" cy="1554480"/>
          </a:xfrm>
          <a:prstGeom prst="rect">
            <a:avLst/>
          </a:prstGeom>
          <a:solidFill>
            <a:srgbClr val="0D1526"/>
          </a:solidFill>
          <a:ln w="9525" cap="flat" cmpd="sng">
            <a:solidFill>
              <a:srgbClr val="1E2D4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17"/>
          <p:cNvSpPr/>
          <p:nvPr/>
        </p:nvSpPr>
        <p:spPr>
          <a:xfrm>
            <a:off x="2340864" y="822960"/>
            <a:ext cx="1975104" cy="45720"/>
          </a:xfrm>
          <a:prstGeom prst="rect">
            <a:avLst/>
          </a:prstGeom>
          <a:solidFill>
            <a:srgbClr val="E25A1C"/>
          </a:solidFill>
          <a:ln w="12700" cap="flat" cmpd="sng">
            <a:solidFill>
              <a:srgbClr val="E25A1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0" name="Google Shape;120;p1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72384" y="1078992"/>
            <a:ext cx="512064" cy="512064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7"/>
          <p:cNvSpPr/>
          <p:nvPr/>
        </p:nvSpPr>
        <p:spPr>
          <a:xfrm>
            <a:off x="2432304" y="1682496"/>
            <a:ext cx="1792224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GB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PySpark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7"/>
          <p:cNvSpPr/>
          <p:nvPr/>
        </p:nvSpPr>
        <p:spPr>
          <a:xfrm>
            <a:off x="4425696" y="822960"/>
            <a:ext cx="1975104" cy="1554480"/>
          </a:xfrm>
          <a:prstGeom prst="rect">
            <a:avLst/>
          </a:prstGeom>
          <a:solidFill>
            <a:srgbClr val="0D1526"/>
          </a:solidFill>
          <a:ln w="9525" cap="flat" cmpd="sng">
            <a:solidFill>
              <a:srgbClr val="1E2D4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17"/>
          <p:cNvSpPr/>
          <p:nvPr/>
        </p:nvSpPr>
        <p:spPr>
          <a:xfrm>
            <a:off x="4425696" y="822960"/>
            <a:ext cx="1975104" cy="45720"/>
          </a:xfrm>
          <a:prstGeom prst="rect">
            <a:avLst/>
          </a:prstGeom>
          <a:solidFill>
            <a:srgbClr val="818CF8"/>
          </a:solidFill>
          <a:ln w="12700" cap="flat" cmpd="sng">
            <a:solidFill>
              <a:srgbClr val="818C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4" name="Google Shape;124;p1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157216" y="1078992"/>
            <a:ext cx="512064" cy="512064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7"/>
          <p:cNvSpPr/>
          <p:nvPr/>
        </p:nvSpPr>
        <p:spPr>
          <a:xfrm>
            <a:off x="4517136" y="1682496"/>
            <a:ext cx="1792224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GB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Delta Lake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7"/>
          <p:cNvSpPr/>
          <p:nvPr/>
        </p:nvSpPr>
        <p:spPr>
          <a:xfrm>
            <a:off x="6510528" y="822960"/>
            <a:ext cx="1975104" cy="1554480"/>
          </a:xfrm>
          <a:prstGeom prst="rect">
            <a:avLst/>
          </a:prstGeom>
          <a:solidFill>
            <a:srgbClr val="0D1526"/>
          </a:solidFill>
          <a:ln w="9525" cap="flat" cmpd="sng">
            <a:solidFill>
              <a:srgbClr val="1E2D4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17"/>
          <p:cNvSpPr/>
          <p:nvPr/>
        </p:nvSpPr>
        <p:spPr>
          <a:xfrm>
            <a:off x="6510528" y="822960"/>
            <a:ext cx="1975104" cy="45720"/>
          </a:xfrm>
          <a:prstGeom prst="rect">
            <a:avLst/>
          </a:prstGeom>
          <a:solidFill>
            <a:srgbClr val="E2E8F0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8" name="Google Shape;128;p17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242048" y="1078992"/>
            <a:ext cx="512064" cy="512064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/>
          <p:cNvSpPr/>
          <p:nvPr/>
        </p:nvSpPr>
        <p:spPr>
          <a:xfrm>
            <a:off x="6601968" y="1682496"/>
            <a:ext cx="1792224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GB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256032" y="2578608"/>
            <a:ext cx="1975104" cy="1554480"/>
          </a:xfrm>
          <a:prstGeom prst="rect">
            <a:avLst/>
          </a:prstGeom>
          <a:solidFill>
            <a:srgbClr val="0D1526"/>
          </a:solidFill>
          <a:ln w="9525" cap="flat" cmpd="sng">
            <a:solidFill>
              <a:srgbClr val="1E2D4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17"/>
          <p:cNvSpPr/>
          <p:nvPr/>
        </p:nvSpPr>
        <p:spPr>
          <a:xfrm>
            <a:off x="256032" y="2578608"/>
            <a:ext cx="1975104" cy="45720"/>
          </a:xfrm>
          <a:prstGeom prst="rect">
            <a:avLst/>
          </a:prstGeom>
          <a:solidFill>
            <a:srgbClr val="017CEE"/>
          </a:solidFill>
          <a:ln w="12700" cap="flat" cmpd="sng">
            <a:solidFill>
              <a:srgbClr val="017C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2" name="Google Shape;132;p17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87552" y="2834640"/>
            <a:ext cx="512064" cy="512064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/>
          <p:nvPr/>
        </p:nvSpPr>
        <p:spPr>
          <a:xfrm>
            <a:off x="347472" y="3438144"/>
            <a:ext cx="1792224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GB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Apache Airflow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7"/>
          <p:cNvSpPr/>
          <p:nvPr/>
        </p:nvSpPr>
        <p:spPr>
          <a:xfrm>
            <a:off x="2340864" y="2578608"/>
            <a:ext cx="1975104" cy="1554480"/>
          </a:xfrm>
          <a:prstGeom prst="rect">
            <a:avLst/>
          </a:prstGeom>
          <a:solidFill>
            <a:srgbClr val="0D1526"/>
          </a:solidFill>
          <a:ln w="9525" cap="flat" cmpd="sng">
            <a:solidFill>
              <a:srgbClr val="1E2D4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7"/>
          <p:cNvSpPr/>
          <p:nvPr/>
        </p:nvSpPr>
        <p:spPr>
          <a:xfrm>
            <a:off x="2340864" y="2578608"/>
            <a:ext cx="1975104" cy="45720"/>
          </a:xfrm>
          <a:prstGeom prst="rect">
            <a:avLst/>
          </a:prstGeom>
          <a:solidFill>
            <a:srgbClr val="4A154B"/>
          </a:solidFill>
          <a:ln w="12700" cap="flat" cmpd="sng">
            <a:solidFill>
              <a:srgbClr val="4A15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6" name="Google Shape;136;p17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072384" y="2834640"/>
            <a:ext cx="512064" cy="512064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/>
          <p:nvPr/>
        </p:nvSpPr>
        <p:spPr>
          <a:xfrm>
            <a:off x="2432304" y="3438144"/>
            <a:ext cx="1792224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GB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Slack Alerts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7"/>
          <p:cNvSpPr/>
          <p:nvPr/>
        </p:nvSpPr>
        <p:spPr>
          <a:xfrm>
            <a:off x="4425696" y="2578608"/>
            <a:ext cx="1975104" cy="1554480"/>
          </a:xfrm>
          <a:prstGeom prst="rect">
            <a:avLst/>
          </a:prstGeom>
          <a:solidFill>
            <a:srgbClr val="0D1526"/>
          </a:solidFill>
          <a:ln w="9525" cap="flat" cmpd="sng">
            <a:solidFill>
              <a:srgbClr val="1E2D4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7"/>
          <p:cNvSpPr/>
          <p:nvPr/>
        </p:nvSpPr>
        <p:spPr>
          <a:xfrm>
            <a:off x="4425696" y="2578608"/>
            <a:ext cx="1975104" cy="45720"/>
          </a:xfrm>
          <a:prstGeom prst="rect">
            <a:avLst/>
          </a:prstGeom>
          <a:solidFill>
            <a:srgbClr val="34D399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0" name="Google Shape;140;p17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157216" y="2834640"/>
            <a:ext cx="512064" cy="512064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/>
          <p:nvPr/>
        </p:nvSpPr>
        <p:spPr>
          <a:xfrm>
            <a:off x="4517136" y="3438144"/>
            <a:ext cx="1792224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GB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SQL Analytics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6510528" y="2578608"/>
            <a:ext cx="1975104" cy="1554480"/>
          </a:xfrm>
          <a:prstGeom prst="rect">
            <a:avLst/>
          </a:prstGeom>
          <a:solidFill>
            <a:srgbClr val="0D1526"/>
          </a:solidFill>
          <a:ln w="9525" cap="flat" cmpd="sng">
            <a:solidFill>
              <a:srgbClr val="1E2D4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7"/>
          <p:cNvSpPr/>
          <p:nvPr/>
        </p:nvSpPr>
        <p:spPr>
          <a:xfrm>
            <a:off x="6510528" y="2578608"/>
            <a:ext cx="1975104" cy="45720"/>
          </a:xfrm>
          <a:prstGeom prst="rect">
            <a:avLst/>
          </a:prstGeom>
          <a:solidFill>
            <a:srgbClr val="FF9900"/>
          </a:solidFill>
          <a:ln w="1270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4" name="Google Shape;144;p17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242048" y="2834640"/>
            <a:ext cx="512064" cy="512064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/>
          <p:nvPr/>
        </p:nvSpPr>
        <p:spPr>
          <a:xfrm>
            <a:off x="6601968" y="3438144"/>
            <a:ext cx="1792224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GB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AWS S3 / Kinesis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A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8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8BDF8"/>
          </a:solidFill>
          <a:ln w="127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8"/>
          <p:cNvSpPr/>
          <p:nvPr/>
        </p:nvSpPr>
        <p:spPr>
          <a:xfrm>
            <a:off x="54864" y="0"/>
            <a:ext cx="9089136" cy="658368"/>
          </a:xfrm>
          <a:prstGeom prst="rect">
            <a:avLst/>
          </a:prstGeom>
          <a:solidFill>
            <a:srgbClr val="0F1F38"/>
          </a:solidFill>
          <a:ln w="12700" cap="flat" cmpd="sng">
            <a:solidFill>
              <a:srgbClr val="0F1F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8"/>
          <p:cNvSpPr/>
          <p:nvPr/>
        </p:nvSpPr>
        <p:spPr>
          <a:xfrm>
            <a:off x="256025" y="36575"/>
            <a:ext cx="8046600" cy="7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GB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Dataset Information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8"/>
          <p:cNvSpPr/>
          <p:nvPr/>
        </p:nvSpPr>
        <p:spPr>
          <a:xfrm>
            <a:off x="54864" y="4910328"/>
            <a:ext cx="9089136" cy="233172"/>
          </a:xfrm>
          <a:prstGeom prst="rect">
            <a:avLst/>
          </a:prstGeom>
          <a:solidFill>
            <a:srgbClr val="0F1F38"/>
          </a:solidFill>
          <a:ln w="12700" cap="flat" cmpd="sng">
            <a:solidFill>
              <a:srgbClr val="0F1F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8"/>
          <p:cNvSpPr/>
          <p:nvPr/>
        </p:nvSpPr>
        <p:spPr>
          <a:xfrm>
            <a:off x="256032" y="4919472"/>
            <a:ext cx="7680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GB" sz="8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Real-Time Social Media Sentiment Analysis Pipeline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7964182" y="4919472"/>
            <a:ext cx="1097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GB" sz="8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4 / 1</a:t>
            </a:r>
            <a:r>
              <a:rPr lang="en-GB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 txBox="1"/>
          <p:nvPr/>
        </p:nvSpPr>
        <p:spPr>
          <a:xfrm>
            <a:off x="201588" y="995600"/>
            <a:ext cx="8795700" cy="27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•</a:t>
            </a:r>
            <a:r>
              <a:rPr lang="en-GB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 Storage: AWS S3 (s3-socialmedia-trgt-buckt)</a:t>
            </a:r>
            <a:endParaRPr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• Format: CSV → Parquet</a:t>
            </a:r>
            <a:endParaRPr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• Tables: tweets, sentiment, trends, user_metadata, valid_tweets</a:t>
            </a:r>
            <a:endParaRPr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• Key Fields: tweet_id, user_id, text, sentiment, timestamp</a:t>
            </a:r>
            <a:endParaRPr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CSV → Parquet</a:t>
            </a:r>
            <a:endParaRPr b="1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CSV (S3) → Kinesis → Firehose → Parquet → S3(target)  → Databricks</a:t>
            </a:r>
            <a:endParaRPr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58" name="Google Shape;158;p18"/>
          <p:cNvSpPr/>
          <p:nvPr/>
        </p:nvSpPr>
        <p:spPr>
          <a:xfrm>
            <a:off x="256035" y="395970"/>
            <a:ext cx="74982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Calibri"/>
              <a:buNone/>
            </a:pPr>
            <a:r>
              <a:rPr lang="en-GB" sz="1200" b="0" i="0" u="sng" strike="noStrike" cap="none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Source: Kaggle — US Election 2020 Tweets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A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9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8BDF8"/>
          </a:solidFill>
          <a:ln w="127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9"/>
          <p:cNvSpPr/>
          <p:nvPr/>
        </p:nvSpPr>
        <p:spPr>
          <a:xfrm>
            <a:off x="54864" y="0"/>
            <a:ext cx="9089136" cy="658368"/>
          </a:xfrm>
          <a:prstGeom prst="rect">
            <a:avLst/>
          </a:prstGeom>
          <a:solidFill>
            <a:srgbClr val="0F1F38"/>
          </a:solidFill>
          <a:ln w="12700" cap="flat" cmpd="sng">
            <a:solidFill>
              <a:srgbClr val="0F1F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9"/>
          <p:cNvSpPr/>
          <p:nvPr/>
        </p:nvSpPr>
        <p:spPr>
          <a:xfrm>
            <a:off x="256032" y="36576"/>
            <a:ext cx="8046720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GB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High-Level Architecture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9"/>
          <p:cNvSpPr/>
          <p:nvPr/>
        </p:nvSpPr>
        <p:spPr>
          <a:xfrm>
            <a:off x="54864" y="4910328"/>
            <a:ext cx="9089136" cy="233172"/>
          </a:xfrm>
          <a:prstGeom prst="rect">
            <a:avLst/>
          </a:prstGeom>
          <a:solidFill>
            <a:srgbClr val="0F1F38"/>
          </a:solidFill>
          <a:ln w="12700" cap="flat" cmpd="sng">
            <a:solidFill>
              <a:srgbClr val="0F1F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9"/>
          <p:cNvSpPr/>
          <p:nvPr/>
        </p:nvSpPr>
        <p:spPr>
          <a:xfrm>
            <a:off x="256032" y="4919472"/>
            <a:ext cx="7680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GB" sz="8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Real-Time Social Media Sentiment Analysis Pipeline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9"/>
          <p:cNvSpPr/>
          <p:nvPr/>
        </p:nvSpPr>
        <p:spPr>
          <a:xfrm>
            <a:off x="7955280" y="491947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GB" sz="8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5 / 1</a:t>
            </a:r>
            <a:r>
              <a:rPr lang="en-GB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9"/>
          <p:cNvSpPr txBox="1"/>
          <p:nvPr/>
        </p:nvSpPr>
        <p:spPr>
          <a:xfrm>
            <a:off x="4309525" y="621800"/>
            <a:ext cx="4743000" cy="413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 b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1. Ingestion</a:t>
            </a:r>
            <a:r>
              <a:rPr lang="en-GB" sz="11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 — Two sources feed data in parallel. S3 handles batch workloads (files dropped periodically), while Kinesis handles real-time streaming events. Both paths converge at the conversion step.</a:t>
            </a:r>
            <a:endParaRPr sz="11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 b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2. Convert</a:t>
            </a:r>
            <a:r>
              <a:rPr lang="en-GB" sz="11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 — Raw data from both sources gets serialized into Parquet format — a columnar, compressed file format that makes downstream querying significantly faster and cheaper.</a:t>
            </a:r>
            <a:endParaRPr sz="11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 b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3. Delta Lake (Medallion Architecture)</a:t>
            </a:r>
            <a:r>
              <a:rPr lang="en-GB" sz="11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 — Data is refined in 3 progressive layers:</a:t>
            </a:r>
            <a:endParaRPr sz="11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GB" sz="1100" b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Bronze</a:t>
            </a:r>
            <a:r>
              <a:rPr lang="en-GB" sz="11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 → raw data landed as-is, no transformations. Your source of truth.</a:t>
            </a:r>
            <a:endParaRPr sz="11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GB" sz="1100" b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Silver</a:t>
            </a:r>
            <a:r>
              <a:rPr lang="en-GB" sz="11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 → data is cleaned, deduplicated, and validated. Joins and type-casting happen here.</a:t>
            </a:r>
            <a:endParaRPr sz="11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GB" sz="1100" b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Gold</a:t>
            </a:r>
            <a:r>
              <a:rPr lang="en-GB" sz="11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 → business-aggregated, ready-to-query tables. Think KPIs, rollups, and domain-specific views.</a:t>
            </a:r>
            <a:endParaRPr sz="11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 b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4. Consume</a:t>
            </a:r>
            <a:r>
              <a:rPr lang="en-GB" sz="11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 — Gold layer tables are exposed directly to BI tools like Tableau, Power BI, or Looker for dashboards and reporting.</a:t>
            </a:r>
            <a:endParaRPr sz="11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3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71" name="Google Shape;17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275" y="810775"/>
            <a:ext cx="4102249" cy="3947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A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8BDF8"/>
          </a:solidFill>
          <a:ln w="127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20"/>
          <p:cNvSpPr/>
          <p:nvPr/>
        </p:nvSpPr>
        <p:spPr>
          <a:xfrm>
            <a:off x="54864" y="0"/>
            <a:ext cx="9089136" cy="658368"/>
          </a:xfrm>
          <a:prstGeom prst="rect">
            <a:avLst/>
          </a:prstGeom>
          <a:solidFill>
            <a:srgbClr val="0F1F38"/>
          </a:solidFill>
          <a:ln w="12700" cap="flat" cmpd="sng">
            <a:solidFill>
              <a:srgbClr val="0F1F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20"/>
          <p:cNvSpPr/>
          <p:nvPr/>
        </p:nvSpPr>
        <p:spPr>
          <a:xfrm>
            <a:off x="256032" y="36576"/>
            <a:ext cx="8046720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GB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Medallion Architecture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54864" y="4910328"/>
            <a:ext cx="9089136" cy="233172"/>
          </a:xfrm>
          <a:prstGeom prst="rect">
            <a:avLst/>
          </a:prstGeom>
          <a:solidFill>
            <a:srgbClr val="0F1F38"/>
          </a:solidFill>
          <a:ln w="12700" cap="flat" cmpd="sng">
            <a:solidFill>
              <a:srgbClr val="0F1F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20"/>
          <p:cNvSpPr/>
          <p:nvPr/>
        </p:nvSpPr>
        <p:spPr>
          <a:xfrm>
            <a:off x="256032" y="4919472"/>
            <a:ext cx="7680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GB" sz="8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Real-Time Social Media Sentiment Analysis Pipeline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7955280" y="491947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GB" sz="8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6 / 1</a:t>
            </a:r>
            <a:r>
              <a:rPr lang="en-GB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256032" y="749808"/>
            <a:ext cx="8595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GB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Data is organized into three layers — progressively improving quality and structure.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251475" y="1165924"/>
            <a:ext cx="2724900" cy="3703200"/>
          </a:xfrm>
          <a:prstGeom prst="rect">
            <a:avLst/>
          </a:prstGeom>
          <a:solidFill>
            <a:srgbClr val="0D1526"/>
          </a:solidFill>
          <a:ln w="9525" cap="flat" cmpd="sng">
            <a:solidFill>
              <a:srgbClr val="1E2D4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20"/>
          <p:cNvSpPr/>
          <p:nvPr/>
        </p:nvSpPr>
        <p:spPr>
          <a:xfrm>
            <a:off x="256032" y="1207008"/>
            <a:ext cx="2724912" cy="45720"/>
          </a:xfrm>
          <a:prstGeom prst="rect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20"/>
          <p:cNvSpPr/>
          <p:nvPr/>
        </p:nvSpPr>
        <p:spPr>
          <a:xfrm>
            <a:off x="420624" y="1389888"/>
            <a:ext cx="1005840" cy="347472"/>
          </a:xfrm>
          <a:prstGeom prst="rect">
            <a:avLst/>
          </a:prstGeom>
          <a:solidFill>
            <a:srgbClr val="D97706">
              <a:alpha val="20000"/>
            </a:srgbClr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20"/>
          <p:cNvSpPr/>
          <p:nvPr/>
        </p:nvSpPr>
        <p:spPr>
          <a:xfrm>
            <a:off x="420624" y="1389888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100"/>
              <a:buFont typeface="Calibri"/>
              <a:buNone/>
            </a:pPr>
            <a:r>
              <a:rPr lang="en-GB" sz="1100" b="1" i="0" u="none" strike="noStrike" cap="non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BRONZE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8" name="Google Shape;188;p2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68880" y="140817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0"/>
          <p:cNvSpPr/>
          <p:nvPr/>
        </p:nvSpPr>
        <p:spPr>
          <a:xfrm>
            <a:off x="420624" y="1865376"/>
            <a:ext cx="2395728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GB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Raw Ingestion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420624" y="2212848"/>
            <a:ext cx="239572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lang="en-GB" sz="950" i="0" u="none" strike="noStrike" cap="none">
                <a:solidFill>
                  <a:srgbClr val="94A3B8"/>
                </a:solidFill>
                <a:latin typeface="Comic Sans MS"/>
                <a:ea typeface="Comic Sans MS"/>
                <a:cs typeface="Comic Sans MS"/>
                <a:sym typeface="Comic Sans MS"/>
              </a:rPr>
              <a:t>Raw data stored exactly as received from source. Schema inferred, timestamps and IDs preserved as-is.</a:t>
            </a:r>
            <a:endParaRPr sz="950" i="0" u="none" strike="noStrike" cap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420624" y="2999232"/>
            <a:ext cx="2395728" cy="18288"/>
          </a:xfrm>
          <a:prstGeom prst="rect">
            <a:avLst/>
          </a:prstGeom>
          <a:solidFill>
            <a:srgbClr val="1E2D45"/>
          </a:solidFill>
          <a:ln w="12700" cap="flat" cmpd="sng">
            <a:solidFill>
              <a:srgbClr val="1E2D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20"/>
          <p:cNvSpPr/>
          <p:nvPr/>
        </p:nvSpPr>
        <p:spPr>
          <a:xfrm>
            <a:off x="420624" y="3090672"/>
            <a:ext cx="23958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GB" sz="900" b="1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Tables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420624" y="3383280"/>
            <a:ext cx="2395728" cy="219456"/>
          </a:xfrm>
          <a:prstGeom prst="rect">
            <a:avLst/>
          </a:prstGeom>
          <a:solidFill>
            <a:srgbClr val="0F1F38"/>
          </a:solidFill>
          <a:ln w="12700" cap="flat" cmpd="sng">
            <a:solidFill>
              <a:srgbClr val="1E2D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20"/>
          <p:cNvSpPr/>
          <p:nvPr/>
        </p:nvSpPr>
        <p:spPr>
          <a:xfrm>
            <a:off x="420624" y="3383280"/>
            <a:ext cx="45720" cy="219456"/>
          </a:xfrm>
          <a:prstGeom prst="rect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20"/>
          <p:cNvSpPr/>
          <p:nvPr/>
        </p:nvSpPr>
        <p:spPr>
          <a:xfrm>
            <a:off x="548640" y="3383280"/>
            <a:ext cx="226771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/>
              <a:buNone/>
            </a:pPr>
            <a:r>
              <a:rPr lang="en-GB" sz="9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tweets_table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420624" y="3657600"/>
            <a:ext cx="2395728" cy="219456"/>
          </a:xfrm>
          <a:prstGeom prst="rect">
            <a:avLst/>
          </a:prstGeom>
          <a:solidFill>
            <a:srgbClr val="0F1F38"/>
          </a:solidFill>
          <a:ln w="12700" cap="flat" cmpd="sng">
            <a:solidFill>
              <a:srgbClr val="1E2D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20"/>
          <p:cNvSpPr/>
          <p:nvPr/>
        </p:nvSpPr>
        <p:spPr>
          <a:xfrm>
            <a:off x="420624" y="3657600"/>
            <a:ext cx="45720" cy="219456"/>
          </a:xfrm>
          <a:prstGeom prst="rect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20"/>
          <p:cNvSpPr/>
          <p:nvPr/>
        </p:nvSpPr>
        <p:spPr>
          <a:xfrm>
            <a:off x="548640" y="3657600"/>
            <a:ext cx="226771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/>
              <a:buNone/>
            </a:pPr>
            <a:r>
              <a:rPr lang="en-GB" sz="9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user_metadata_table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420624" y="3931920"/>
            <a:ext cx="2395728" cy="219456"/>
          </a:xfrm>
          <a:prstGeom prst="rect">
            <a:avLst/>
          </a:prstGeom>
          <a:solidFill>
            <a:srgbClr val="0F1F38"/>
          </a:solidFill>
          <a:ln w="12700" cap="flat" cmpd="sng">
            <a:solidFill>
              <a:srgbClr val="1E2D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20"/>
          <p:cNvSpPr/>
          <p:nvPr/>
        </p:nvSpPr>
        <p:spPr>
          <a:xfrm>
            <a:off x="420624" y="3931920"/>
            <a:ext cx="45720" cy="219456"/>
          </a:xfrm>
          <a:prstGeom prst="rect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20"/>
          <p:cNvSpPr/>
          <p:nvPr/>
        </p:nvSpPr>
        <p:spPr>
          <a:xfrm>
            <a:off x="548640" y="3931920"/>
            <a:ext cx="226771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/>
              <a:buNone/>
            </a:pPr>
            <a:r>
              <a:rPr lang="en-GB" sz="9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sentiment_table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420624" y="4206240"/>
            <a:ext cx="2395728" cy="219456"/>
          </a:xfrm>
          <a:prstGeom prst="rect">
            <a:avLst/>
          </a:prstGeom>
          <a:solidFill>
            <a:srgbClr val="0F1F38"/>
          </a:solidFill>
          <a:ln w="12700" cap="flat" cmpd="sng">
            <a:solidFill>
              <a:srgbClr val="1E2D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20"/>
          <p:cNvSpPr/>
          <p:nvPr/>
        </p:nvSpPr>
        <p:spPr>
          <a:xfrm>
            <a:off x="420624" y="4206240"/>
            <a:ext cx="45720" cy="219456"/>
          </a:xfrm>
          <a:prstGeom prst="rect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20"/>
          <p:cNvSpPr/>
          <p:nvPr/>
        </p:nvSpPr>
        <p:spPr>
          <a:xfrm>
            <a:off x="548640" y="4206240"/>
            <a:ext cx="226771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/>
              <a:buNone/>
            </a:pPr>
            <a:r>
              <a:rPr lang="en-GB" sz="9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trends_table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" name="Google Shape;205;p2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67228" y="2788920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/>
          <p:nvPr/>
        </p:nvSpPr>
        <p:spPr>
          <a:xfrm>
            <a:off x="3170675" y="1206999"/>
            <a:ext cx="2724900" cy="3662100"/>
          </a:xfrm>
          <a:prstGeom prst="rect">
            <a:avLst/>
          </a:prstGeom>
          <a:solidFill>
            <a:srgbClr val="0D1526"/>
          </a:solidFill>
          <a:ln w="9525" cap="flat" cmpd="sng">
            <a:solidFill>
              <a:srgbClr val="1E2D4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20"/>
          <p:cNvSpPr/>
          <p:nvPr/>
        </p:nvSpPr>
        <p:spPr>
          <a:xfrm>
            <a:off x="3172968" y="1207008"/>
            <a:ext cx="2724900" cy="45600"/>
          </a:xfrm>
          <a:prstGeom prst="rect">
            <a:avLst/>
          </a:prstGeom>
          <a:solidFill>
            <a:srgbClr val="94A3B8"/>
          </a:solidFill>
          <a:ln w="12700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20"/>
          <p:cNvSpPr/>
          <p:nvPr/>
        </p:nvSpPr>
        <p:spPr>
          <a:xfrm>
            <a:off x="3337560" y="1389888"/>
            <a:ext cx="1005840" cy="347472"/>
          </a:xfrm>
          <a:prstGeom prst="rect">
            <a:avLst/>
          </a:prstGeom>
          <a:solidFill>
            <a:srgbClr val="94A3B8">
              <a:alpha val="20000"/>
            </a:srgbClr>
          </a:solidFill>
          <a:ln w="12700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20"/>
          <p:cNvSpPr/>
          <p:nvPr/>
        </p:nvSpPr>
        <p:spPr>
          <a:xfrm>
            <a:off x="3337560" y="1389888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GB" sz="1100" b="1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SILVER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0" name="Google Shape;210;p20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85816" y="140817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/>
          <p:nvPr/>
        </p:nvSpPr>
        <p:spPr>
          <a:xfrm>
            <a:off x="3337560" y="1865376"/>
            <a:ext cx="2395728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GB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Cleaned &amp; Enriched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3337560" y="2212848"/>
            <a:ext cx="239572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lang="en-GB" sz="950" i="0" u="none" strike="noStrike" cap="none">
                <a:solidFill>
                  <a:srgbClr val="94A3B8"/>
                </a:solidFill>
                <a:latin typeface="Comic Sans MS"/>
                <a:ea typeface="Comic Sans MS"/>
                <a:cs typeface="Comic Sans MS"/>
                <a:sym typeface="Comic Sans MS"/>
              </a:rPr>
              <a:t>Data cleaning, type casting, deduplication, and enrichment. Joins produce the valid_table.</a:t>
            </a:r>
            <a:endParaRPr sz="950" i="0" u="none" strike="noStrike" cap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13" name="Google Shape;213;p20"/>
          <p:cNvSpPr/>
          <p:nvPr/>
        </p:nvSpPr>
        <p:spPr>
          <a:xfrm>
            <a:off x="3337560" y="2999232"/>
            <a:ext cx="2395728" cy="18288"/>
          </a:xfrm>
          <a:prstGeom prst="rect">
            <a:avLst/>
          </a:prstGeom>
          <a:solidFill>
            <a:srgbClr val="1E2D45"/>
          </a:solidFill>
          <a:ln w="12700" cap="flat" cmpd="sng">
            <a:solidFill>
              <a:srgbClr val="1E2D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20"/>
          <p:cNvSpPr/>
          <p:nvPr/>
        </p:nvSpPr>
        <p:spPr>
          <a:xfrm>
            <a:off x="3337560" y="3090672"/>
            <a:ext cx="239572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GB" sz="900" b="1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Tables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0"/>
          <p:cNvSpPr/>
          <p:nvPr/>
        </p:nvSpPr>
        <p:spPr>
          <a:xfrm>
            <a:off x="3337560" y="3383280"/>
            <a:ext cx="2395728" cy="219456"/>
          </a:xfrm>
          <a:prstGeom prst="rect">
            <a:avLst/>
          </a:prstGeom>
          <a:solidFill>
            <a:srgbClr val="0F1F38"/>
          </a:solidFill>
          <a:ln w="12700" cap="flat" cmpd="sng">
            <a:solidFill>
              <a:srgbClr val="1E2D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20"/>
          <p:cNvSpPr/>
          <p:nvPr/>
        </p:nvSpPr>
        <p:spPr>
          <a:xfrm>
            <a:off x="3337560" y="3383280"/>
            <a:ext cx="45720" cy="219456"/>
          </a:xfrm>
          <a:prstGeom prst="rect">
            <a:avLst/>
          </a:prstGeom>
          <a:solidFill>
            <a:srgbClr val="94A3B8"/>
          </a:solidFill>
          <a:ln w="12700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20"/>
          <p:cNvSpPr/>
          <p:nvPr/>
        </p:nvSpPr>
        <p:spPr>
          <a:xfrm>
            <a:off x="3465576" y="3383280"/>
            <a:ext cx="226771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/>
              <a:buNone/>
            </a:pPr>
            <a:r>
              <a:rPr lang="en-GB" sz="9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silver_tweets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0"/>
          <p:cNvSpPr/>
          <p:nvPr/>
        </p:nvSpPr>
        <p:spPr>
          <a:xfrm>
            <a:off x="3337560" y="3657600"/>
            <a:ext cx="2395728" cy="219456"/>
          </a:xfrm>
          <a:prstGeom prst="rect">
            <a:avLst/>
          </a:prstGeom>
          <a:solidFill>
            <a:srgbClr val="0F1F38"/>
          </a:solidFill>
          <a:ln w="12700" cap="flat" cmpd="sng">
            <a:solidFill>
              <a:srgbClr val="1E2D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20"/>
          <p:cNvSpPr/>
          <p:nvPr/>
        </p:nvSpPr>
        <p:spPr>
          <a:xfrm>
            <a:off x="3337560" y="3657600"/>
            <a:ext cx="45720" cy="219456"/>
          </a:xfrm>
          <a:prstGeom prst="rect">
            <a:avLst/>
          </a:prstGeom>
          <a:solidFill>
            <a:srgbClr val="94A3B8"/>
          </a:solidFill>
          <a:ln w="12700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20"/>
          <p:cNvSpPr/>
          <p:nvPr/>
        </p:nvSpPr>
        <p:spPr>
          <a:xfrm>
            <a:off x="3465576" y="3657600"/>
            <a:ext cx="226771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/>
              <a:buNone/>
            </a:pPr>
            <a:r>
              <a:rPr lang="en-GB" sz="9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silver_</a:t>
            </a:r>
            <a:r>
              <a:rPr lang="en-GB" sz="9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metadata_table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0"/>
          <p:cNvSpPr/>
          <p:nvPr/>
        </p:nvSpPr>
        <p:spPr>
          <a:xfrm>
            <a:off x="3337560" y="3931920"/>
            <a:ext cx="2395728" cy="219456"/>
          </a:xfrm>
          <a:prstGeom prst="rect">
            <a:avLst/>
          </a:prstGeom>
          <a:solidFill>
            <a:srgbClr val="0F1F38"/>
          </a:solidFill>
          <a:ln w="12700" cap="flat" cmpd="sng">
            <a:solidFill>
              <a:srgbClr val="1E2D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20"/>
          <p:cNvSpPr/>
          <p:nvPr/>
        </p:nvSpPr>
        <p:spPr>
          <a:xfrm>
            <a:off x="3337560" y="3931920"/>
            <a:ext cx="45720" cy="219456"/>
          </a:xfrm>
          <a:prstGeom prst="rect">
            <a:avLst/>
          </a:prstGeom>
          <a:solidFill>
            <a:srgbClr val="94A3B8"/>
          </a:solidFill>
          <a:ln w="12700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20"/>
          <p:cNvSpPr/>
          <p:nvPr/>
        </p:nvSpPr>
        <p:spPr>
          <a:xfrm>
            <a:off x="3465576" y="3931920"/>
            <a:ext cx="22677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/>
              <a:buNone/>
            </a:pPr>
            <a:r>
              <a:rPr lang="en-GB" sz="9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silver_sentiment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0"/>
          <p:cNvSpPr/>
          <p:nvPr/>
        </p:nvSpPr>
        <p:spPr>
          <a:xfrm>
            <a:off x="3337560" y="4206240"/>
            <a:ext cx="2395728" cy="219456"/>
          </a:xfrm>
          <a:prstGeom prst="rect">
            <a:avLst/>
          </a:prstGeom>
          <a:solidFill>
            <a:srgbClr val="0F1F38"/>
          </a:solidFill>
          <a:ln w="12700" cap="flat" cmpd="sng">
            <a:solidFill>
              <a:srgbClr val="1E2D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20"/>
          <p:cNvSpPr/>
          <p:nvPr/>
        </p:nvSpPr>
        <p:spPr>
          <a:xfrm>
            <a:off x="3337560" y="4206240"/>
            <a:ext cx="45720" cy="219456"/>
          </a:xfrm>
          <a:prstGeom prst="rect">
            <a:avLst/>
          </a:prstGeom>
          <a:solidFill>
            <a:srgbClr val="94A3B8"/>
          </a:solidFill>
          <a:ln w="12700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20"/>
          <p:cNvSpPr/>
          <p:nvPr/>
        </p:nvSpPr>
        <p:spPr>
          <a:xfrm>
            <a:off x="3465576" y="4206240"/>
            <a:ext cx="226771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/>
              <a:buNone/>
            </a:pPr>
            <a:r>
              <a:rPr lang="en-GB" sz="9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silver_t</a:t>
            </a:r>
            <a:r>
              <a:rPr lang="en-GB" sz="9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rends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7" name="Google Shape;227;p2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84164" y="2788920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0"/>
          <p:cNvSpPr/>
          <p:nvPr/>
        </p:nvSpPr>
        <p:spPr>
          <a:xfrm>
            <a:off x="6089900" y="1186474"/>
            <a:ext cx="2724900" cy="3662100"/>
          </a:xfrm>
          <a:prstGeom prst="rect">
            <a:avLst/>
          </a:prstGeom>
          <a:solidFill>
            <a:srgbClr val="0D1526"/>
          </a:solidFill>
          <a:ln w="9525" cap="flat" cmpd="sng">
            <a:solidFill>
              <a:srgbClr val="1E2D4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20"/>
          <p:cNvSpPr/>
          <p:nvPr/>
        </p:nvSpPr>
        <p:spPr>
          <a:xfrm>
            <a:off x="6089904" y="1207008"/>
            <a:ext cx="2724912" cy="45720"/>
          </a:xfrm>
          <a:prstGeom prst="rect">
            <a:avLst/>
          </a:prstGeom>
          <a:solidFill>
            <a:srgbClr val="FBBF24"/>
          </a:solidFill>
          <a:ln w="12700" cap="flat" cmpd="sng">
            <a:solidFill>
              <a:srgbClr val="FBBF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20"/>
          <p:cNvSpPr/>
          <p:nvPr/>
        </p:nvSpPr>
        <p:spPr>
          <a:xfrm>
            <a:off x="6254496" y="1389888"/>
            <a:ext cx="1005840" cy="347472"/>
          </a:xfrm>
          <a:prstGeom prst="rect">
            <a:avLst/>
          </a:prstGeom>
          <a:solidFill>
            <a:srgbClr val="FBBF24">
              <a:alpha val="20000"/>
            </a:srgbClr>
          </a:solidFill>
          <a:ln w="12700" cap="flat" cmpd="sng">
            <a:solidFill>
              <a:srgbClr val="FBBF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20"/>
          <p:cNvSpPr/>
          <p:nvPr/>
        </p:nvSpPr>
        <p:spPr>
          <a:xfrm>
            <a:off x="6254496" y="1389888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100"/>
              <a:buFont typeface="Calibri"/>
              <a:buNone/>
            </a:pPr>
            <a:r>
              <a:rPr lang="en-GB" sz="1100" b="1" i="0" u="none" strike="noStrike" cap="none">
                <a:solidFill>
                  <a:srgbClr val="FBBF24"/>
                </a:solidFill>
                <a:latin typeface="Calibri"/>
                <a:ea typeface="Calibri"/>
                <a:cs typeface="Calibri"/>
                <a:sym typeface="Calibri"/>
              </a:rPr>
              <a:t>GOLD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2" name="Google Shape;232;p20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302752" y="140817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0"/>
          <p:cNvSpPr/>
          <p:nvPr/>
        </p:nvSpPr>
        <p:spPr>
          <a:xfrm>
            <a:off x="6254496" y="1865376"/>
            <a:ext cx="2395728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GB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Analytics Ready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6254496" y="2212848"/>
            <a:ext cx="239572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lang="en-GB" sz="950" i="0" u="none" strike="noStrike" cap="none">
                <a:solidFill>
                  <a:srgbClr val="94A3B8"/>
                </a:solidFill>
                <a:latin typeface="Comic Sans MS"/>
                <a:ea typeface="Comic Sans MS"/>
                <a:cs typeface="Comic Sans MS"/>
                <a:sym typeface="Comic Sans MS"/>
              </a:rPr>
              <a:t>Aggregated datasets optimized for reporting. Feature engineering via dbt transforms.</a:t>
            </a:r>
            <a:endParaRPr sz="950" i="0" u="none" strike="noStrike" cap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6254496" y="2999232"/>
            <a:ext cx="2395728" cy="18288"/>
          </a:xfrm>
          <a:prstGeom prst="rect">
            <a:avLst/>
          </a:prstGeom>
          <a:solidFill>
            <a:srgbClr val="1E2D45"/>
          </a:solidFill>
          <a:ln w="12700" cap="flat" cmpd="sng">
            <a:solidFill>
              <a:srgbClr val="1E2D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20"/>
          <p:cNvSpPr/>
          <p:nvPr/>
        </p:nvSpPr>
        <p:spPr>
          <a:xfrm>
            <a:off x="6254496" y="3090672"/>
            <a:ext cx="23958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GB" sz="900" b="1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Tables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0"/>
          <p:cNvSpPr/>
          <p:nvPr/>
        </p:nvSpPr>
        <p:spPr>
          <a:xfrm>
            <a:off x="6254496" y="3383280"/>
            <a:ext cx="2395728" cy="219456"/>
          </a:xfrm>
          <a:prstGeom prst="rect">
            <a:avLst/>
          </a:prstGeom>
          <a:solidFill>
            <a:srgbClr val="0F1F38"/>
          </a:solidFill>
          <a:ln w="12700" cap="flat" cmpd="sng">
            <a:solidFill>
              <a:srgbClr val="1E2D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20"/>
          <p:cNvSpPr/>
          <p:nvPr/>
        </p:nvSpPr>
        <p:spPr>
          <a:xfrm>
            <a:off x="6254496" y="3383280"/>
            <a:ext cx="45720" cy="219456"/>
          </a:xfrm>
          <a:prstGeom prst="rect">
            <a:avLst/>
          </a:prstGeom>
          <a:solidFill>
            <a:srgbClr val="FBBF24"/>
          </a:solidFill>
          <a:ln w="12700" cap="flat" cmpd="sng">
            <a:solidFill>
              <a:srgbClr val="FBBF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20"/>
          <p:cNvSpPr/>
          <p:nvPr/>
        </p:nvSpPr>
        <p:spPr>
          <a:xfrm>
            <a:off x="6382512" y="3383280"/>
            <a:ext cx="226771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/>
              <a:buNone/>
            </a:pPr>
            <a:r>
              <a:rPr lang="en-GB" sz="9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fact_tweet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0"/>
          <p:cNvSpPr/>
          <p:nvPr/>
        </p:nvSpPr>
        <p:spPr>
          <a:xfrm>
            <a:off x="6254496" y="3657600"/>
            <a:ext cx="2395728" cy="219456"/>
          </a:xfrm>
          <a:prstGeom prst="rect">
            <a:avLst/>
          </a:prstGeom>
          <a:solidFill>
            <a:srgbClr val="0F1F38"/>
          </a:solidFill>
          <a:ln w="12700" cap="flat" cmpd="sng">
            <a:solidFill>
              <a:srgbClr val="1E2D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20"/>
          <p:cNvSpPr/>
          <p:nvPr/>
        </p:nvSpPr>
        <p:spPr>
          <a:xfrm>
            <a:off x="6254496" y="3657600"/>
            <a:ext cx="45720" cy="219456"/>
          </a:xfrm>
          <a:prstGeom prst="rect">
            <a:avLst/>
          </a:prstGeom>
          <a:solidFill>
            <a:srgbClr val="FBBF24"/>
          </a:solidFill>
          <a:ln w="12700" cap="flat" cmpd="sng">
            <a:solidFill>
              <a:srgbClr val="FBBF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20"/>
          <p:cNvSpPr/>
          <p:nvPr/>
        </p:nvSpPr>
        <p:spPr>
          <a:xfrm>
            <a:off x="6382512" y="3657600"/>
            <a:ext cx="226771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/>
              <a:buNone/>
            </a:pPr>
            <a:r>
              <a:rPr lang="en-GB" sz="9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fact_trend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0"/>
          <p:cNvSpPr/>
          <p:nvPr/>
        </p:nvSpPr>
        <p:spPr>
          <a:xfrm>
            <a:off x="6254496" y="3931920"/>
            <a:ext cx="2395728" cy="219456"/>
          </a:xfrm>
          <a:prstGeom prst="rect">
            <a:avLst/>
          </a:prstGeom>
          <a:solidFill>
            <a:srgbClr val="0F1F38"/>
          </a:solidFill>
          <a:ln w="12700" cap="flat" cmpd="sng">
            <a:solidFill>
              <a:srgbClr val="1E2D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20"/>
          <p:cNvSpPr/>
          <p:nvPr/>
        </p:nvSpPr>
        <p:spPr>
          <a:xfrm>
            <a:off x="6254496" y="3931920"/>
            <a:ext cx="45720" cy="219456"/>
          </a:xfrm>
          <a:prstGeom prst="rect">
            <a:avLst/>
          </a:prstGeom>
          <a:solidFill>
            <a:srgbClr val="FBBF24"/>
          </a:solidFill>
          <a:ln w="12700" cap="flat" cmpd="sng">
            <a:solidFill>
              <a:srgbClr val="FBBF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20"/>
          <p:cNvSpPr/>
          <p:nvPr/>
        </p:nvSpPr>
        <p:spPr>
          <a:xfrm>
            <a:off x="6382512" y="3931920"/>
            <a:ext cx="226771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/>
              <a:buNone/>
            </a:pPr>
            <a:r>
              <a:rPr lang="en-GB" sz="9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dim_user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0"/>
          <p:cNvSpPr/>
          <p:nvPr/>
        </p:nvSpPr>
        <p:spPr>
          <a:xfrm>
            <a:off x="6254496" y="4206240"/>
            <a:ext cx="2395728" cy="219456"/>
          </a:xfrm>
          <a:prstGeom prst="rect">
            <a:avLst/>
          </a:prstGeom>
          <a:solidFill>
            <a:srgbClr val="0F1F38"/>
          </a:solidFill>
          <a:ln w="12700" cap="flat" cmpd="sng">
            <a:solidFill>
              <a:srgbClr val="1E2D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20"/>
          <p:cNvSpPr/>
          <p:nvPr/>
        </p:nvSpPr>
        <p:spPr>
          <a:xfrm>
            <a:off x="6254496" y="4206240"/>
            <a:ext cx="45720" cy="219456"/>
          </a:xfrm>
          <a:prstGeom prst="rect">
            <a:avLst/>
          </a:prstGeom>
          <a:solidFill>
            <a:srgbClr val="FBBF24"/>
          </a:solidFill>
          <a:ln w="12700" cap="flat" cmpd="sng">
            <a:solidFill>
              <a:srgbClr val="FBBF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20"/>
          <p:cNvSpPr/>
          <p:nvPr/>
        </p:nvSpPr>
        <p:spPr>
          <a:xfrm>
            <a:off x="6382524" y="4206240"/>
            <a:ext cx="22677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/>
              <a:buNone/>
            </a:pPr>
            <a:r>
              <a:rPr lang="en-GB" sz="9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dim_topic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0"/>
          <p:cNvSpPr/>
          <p:nvPr/>
        </p:nvSpPr>
        <p:spPr>
          <a:xfrm>
            <a:off x="484599" y="4480565"/>
            <a:ext cx="2395800" cy="219600"/>
          </a:xfrm>
          <a:prstGeom prst="rect">
            <a:avLst/>
          </a:prstGeom>
          <a:solidFill>
            <a:srgbClr val="0F1F38"/>
          </a:solidFill>
          <a:ln w="12700" cap="flat" cmpd="sng">
            <a:solidFill>
              <a:srgbClr val="1E2D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20"/>
          <p:cNvSpPr/>
          <p:nvPr/>
        </p:nvSpPr>
        <p:spPr>
          <a:xfrm>
            <a:off x="420687" y="4480565"/>
            <a:ext cx="45600" cy="219600"/>
          </a:xfrm>
          <a:prstGeom prst="rect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20"/>
          <p:cNvSpPr/>
          <p:nvPr/>
        </p:nvSpPr>
        <p:spPr>
          <a:xfrm>
            <a:off x="480065" y="4480578"/>
            <a:ext cx="22677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/>
              <a:buNone/>
            </a:pPr>
            <a:r>
              <a:rPr lang="en-GB" sz="9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  valid</a:t>
            </a:r>
            <a:r>
              <a:rPr lang="en-GB" sz="9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_table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0"/>
          <p:cNvSpPr/>
          <p:nvPr/>
        </p:nvSpPr>
        <p:spPr>
          <a:xfrm>
            <a:off x="3335248" y="4480415"/>
            <a:ext cx="2395800" cy="219600"/>
          </a:xfrm>
          <a:prstGeom prst="rect">
            <a:avLst/>
          </a:prstGeom>
          <a:solidFill>
            <a:srgbClr val="0F1F38"/>
          </a:solidFill>
          <a:ln w="12700" cap="flat" cmpd="sng">
            <a:solidFill>
              <a:srgbClr val="1E2D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20"/>
          <p:cNvSpPr/>
          <p:nvPr/>
        </p:nvSpPr>
        <p:spPr>
          <a:xfrm>
            <a:off x="3335248" y="4480415"/>
            <a:ext cx="45600" cy="219600"/>
          </a:xfrm>
          <a:prstGeom prst="rect">
            <a:avLst/>
          </a:prstGeom>
          <a:solidFill>
            <a:srgbClr val="94A3B8"/>
          </a:solidFill>
          <a:ln w="12700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20"/>
          <p:cNvSpPr/>
          <p:nvPr/>
        </p:nvSpPr>
        <p:spPr>
          <a:xfrm>
            <a:off x="3463264" y="4480415"/>
            <a:ext cx="22677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/>
              <a:buNone/>
            </a:pPr>
            <a:r>
              <a:rPr lang="en-GB" sz="9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silver_</a:t>
            </a:r>
            <a:r>
              <a:rPr lang="en-GB" sz="9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valid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0"/>
          <p:cNvSpPr/>
          <p:nvPr/>
        </p:nvSpPr>
        <p:spPr>
          <a:xfrm>
            <a:off x="6249821" y="4480715"/>
            <a:ext cx="2395800" cy="219600"/>
          </a:xfrm>
          <a:prstGeom prst="rect">
            <a:avLst/>
          </a:prstGeom>
          <a:solidFill>
            <a:srgbClr val="0F1F38"/>
          </a:solidFill>
          <a:ln w="12700" cap="flat" cmpd="sng">
            <a:solidFill>
              <a:srgbClr val="1E2D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20"/>
          <p:cNvSpPr/>
          <p:nvPr/>
        </p:nvSpPr>
        <p:spPr>
          <a:xfrm>
            <a:off x="6249821" y="4480715"/>
            <a:ext cx="45600" cy="219600"/>
          </a:xfrm>
          <a:prstGeom prst="rect">
            <a:avLst/>
          </a:prstGeom>
          <a:solidFill>
            <a:srgbClr val="FBBF24"/>
          </a:solidFill>
          <a:ln w="12700" cap="flat" cmpd="sng">
            <a:solidFill>
              <a:srgbClr val="FBBF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20"/>
          <p:cNvSpPr/>
          <p:nvPr/>
        </p:nvSpPr>
        <p:spPr>
          <a:xfrm>
            <a:off x="6377849" y="4480715"/>
            <a:ext cx="22677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/>
              <a:buNone/>
            </a:pPr>
            <a:r>
              <a:rPr lang="en-GB" sz="9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dim_</a:t>
            </a:r>
            <a:r>
              <a:rPr lang="en-GB" sz="9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country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A"/>
        </a:solidFill>
        <a:effectLst/>
      </p:bgPr>
    </p:bg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1"/>
          <p:cNvSpPr/>
          <p:nvPr/>
        </p:nvSpPr>
        <p:spPr>
          <a:xfrm>
            <a:off x="0" y="0"/>
            <a:ext cx="54900" cy="5143500"/>
          </a:xfrm>
          <a:prstGeom prst="rect">
            <a:avLst/>
          </a:prstGeom>
          <a:solidFill>
            <a:srgbClr val="38BDF8"/>
          </a:solidFill>
          <a:ln w="127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21"/>
          <p:cNvSpPr/>
          <p:nvPr/>
        </p:nvSpPr>
        <p:spPr>
          <a:xfrm>
            <a:off x="54864" y="4910328"/>
            <a:ext cx="9089100" cy="233100"/>
          </a:xfrm>
          <a:prstGeom prst="rect">
            <a:avLst/>
          </a:prstGeom>
          <a:solidFill>
            <a:srgbClr val="0F1F38"/>
          </a:solidFill>
          <a:ln w="12700" cap="flat" cmpd="sng">
            <a:solidFill>
              <a:srgbClr val="0F1F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21"/>
          <p:cNvSpPr/>
          <p:nvPr/>
        </p:nvSpPr>
        <p:spPr>
          <a:xfrm>
            <a:off x="256032" y="4919472"/>
            <a:ext cx="76809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GB" sz="8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Real-Time Social Media Sentiment Analysis Pipeline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1"/>
          <p:cNvSpPr/>
          <p:nvPr/>
        </p:nvSpPr>
        <p:spPr>
          <a:xfrm>
            <a:off x="7955280" y="4919472"/>
            <a:ext cx="1097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GB" sz="8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 / 1</a:t>
            </a:r>
            <a:r>
              <a:rPr lang="en-GB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1"/>
          <p:cNvSpPr/>
          <p:nvPr/>
        </p:nvSpPr>
        <p:spPr>
          <a:xfrm>
            <a:off x="54864" y="0"/>
            <a:ext cx="9089100" cy="658500"/>
          </a:xfrm>
          <a:prstGeom prst="rect">
            <a:avLst/>
          </a:prstGeom>
          <a:solidFill>
            <a:srgbClr val="0F1F38"/>
          </a:solidFill>
          <a:ln w="12700" cap="flat" cmpd="sng">
            <a:solidFill>
              <a:srgbClr val="0F1F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21"/>
          <p:cNvSpPr/>
          <p:nvPr/>
        </p:nvSpPr>
        <p:spPr>
          <a:xfrm>
            <a:off x="256032" y="36576"/>
            <a:ext cx="8046600" cy="5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GB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Bronze Layer — Raw Data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1"/>
          <p:cNvSpPr/>
          <p:nvPr/>
        </p:nvSpPr>
        <p:spPr>
          <a:xfrm>
            <a:off x="256032" y="749808"/>
            <a:ext cx="85953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GB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Stores raw ingested data exactly as received from the source — no transformations applied.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1"/>
          <p:cNvSpPr/>
          <p:nvPr/>
        </p:nvSpPr>
        <p:spPr>
          <a:xfrm>
            <a:off x="256025" y="1092775"/>
            <a:ext cx="2286000" cy="3703200"/>
          </a:xfrm>
          <a:prstGeom prst="rect">
            <a:avLst/>
          </a:prstGeom>
          <a:solidFill>
            <a:srgbClr val="0D1526"/>
          </a:solidFill>
          <a:ln w="9525" cap="flat" cmpd="sng">
            <a:solidFill>
              <a:srgbClr val="1E2D4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2509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21"/>
          <p:cNvSpPr/>
          <p:nvPr/>
        </p:nvSpPr>
        <p:spPr>
          <a:xfrm>
            <a:off x="256032" y="1207008"/>
            <a:ext cx="2286000" cy="45600"/>
          </a:xfrm>
          <a:prstGeom prst="rect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21"/>
          <p:cNvSpPr/>
          <p:nvPr/>
        </p:nvSpPr>
        <p:spPr>
          <a:xfrm>
            <a:off x="347536" y="1298475"/>
            <a:ext cx="20118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200"/>
              <a:buFont typeface="Calibri"/>
              <a:buNone/>
            </a:pPr>
            <a:r>
              <a:rPr lang="en-GB" sz="1200" b="1" i="0" u="none" strike="noStrike" cap="non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Tables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1"/>
          <p:cNvSpPr/>
          <p:nvPr/>
        </p:nvSpPr>
        <p:spPr>
          <a:xfrm>
            <a:off x="402336" y="1773936"/>
            <a:ext cx="1975200" cy="475500"/>
          </a:xfrm>
          <a:prstGeom prst="rect">
            <a:avLst/>
          </a:prstGeom>
          <a:solidFill>
            <a:srgbClr val="0F1F38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21"/>
          <p:cNvSpPr/>
          <p:nvPr/>
        </p:nvSpPr>
        <p:spPr>
          <a:xfrm>
            <a:off x="402336" y="1773936"/>
            <a:ext cx="54900" cy="475500"/>
          </a:xfrm>
          <a:prstGeom prst="rect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21"/>
          <p:cNvSpPr/>
          <p:nvPr/>
        </p:nvSpPr>
        <p:spPr>
          <a:xfrm>
            <a:off x="512064" y="1773936"/>
            <a:ext cx="18288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GB" sz="1000" b="1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tweets_table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1"/>
          <p:cNvSpPr/>
          <p:nvPr/>
        </p:nvSpPr>
        <p:spPr>
          <a:xfrm>
            <a:off x="2212848" y="1792224"/>
            <a:ext cx="255900" cy="255900"/>
          </a:xfrm>
          <a:prstGeom prst="ellipse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21"/>
          <p:cNvSpPr/>
          <p:nvPr/>
        </p:nvSpPr>
        <p:spPr>
          <a:xfrm>
            <a:off x="2212848" y="1792224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lang="en-GB" sz="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1"/>
          <p:cNvSpPr/>
          <p:nvPr/>
        </p:nvSpPr>
        <p:spPr>
          <a:xfrm>
            <a:off x="402336" y="2414016"/>
            <a:ext cx="1975200" cy="475500"/>
          </a:xfrm>
          <a:prstGeom prst="rect">
            <a:avLst/>
          </a:prstGeom>
          <a:solidFill>
            <a:srgbClr val="0F1F38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21"/>
          <p:cNvSpPr/>
          <p:nvPr/>
        </p:nvSpPr>
        <p:spPr>
          <a:xfrm>
            <a:off x="402336" y="2414016"/>
            <a:ext cx="54900" cy="475500"/>
          </a:xfrm>
          <a:prstGeom prst="rect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21"/>
          <p:cNvSpPr/>
          <p:nvPr/>
        </p:nvSpPr>
        <p:spPr>
          <a:xfrm>
            <a:off x="512064" y="2414016"/>
            <a:ext cx="18288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GB" sz="1000" b="1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user_metadata_table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1"/>
          <p:cNvSpPr/>
          <p:nvPr/>
        </p:nvSpPr>
        <p:spPr>
          <a:xfrm>
            <a:off x="2212848" y="2432304"/>
            <a:ext cx="255900" cy="255900"/>
          </a:xfrm>
          <a:prstGeom prst="ellipse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21"/>
          <p:cNvSpPr/>
          <p:nvPr/>
        </p:nvSpPr>
        <p:spPr>
          <a:xfrm>
            <a:off x="2212848" y="2432304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lang="en-GB" sz="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1"/>
          <p:cNvSpPr/>
          <p:nvPr/>
        </p:nvSpPr>
        <p:spPr>
          <a:xfrm>
            <a:off x="402336" y="3054096"/>
            <a:ext cx="1975200" cy="475500"/>
          </a:xfrm>
          <a:prstGeom prst="rect">
            <a:avLst/>
          </a:prstGeom>
          <a:solidFill>
            <a:srgbClr val="0F1F38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21"/>
          <p:cNvSpPr/>
          <p:nvPr/>
        </p:nvSpPr>
        <p:spPr>
          <a:xfrm>
            <a:off x="402336" y="3054096"/>
            <a:ext cx="54900" cy="475500"/>
          </a:xfrm>
          <a:prstGeom prst="rect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21"/>
          <p:cNvSpPr/>
          <p:nvPr/>
        </p:nvSpPr>
        <p:spPr>
          <a:xfrm>
            <a:off x="512064" y="3054096"/>
            <a:ext cx="18288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GB" sz="1000" b="1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sentiment_table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1"/>
          <p:cNvSpPr/>
          <p:nvPr/>
        </p:nvSpPr>
        <p:spPr>
          <a:xfrm>
            <a:off x="2212848" y="3072384"/>
            <a:ext cx="255900" cy="255900"/>
          </a:xfrm>
          <a:prstGeom prst="ellipse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21"/>
          <p:cNvSpPr/>
          <p:nvPr/>
        </p:nvSpPr>
        <p:spPr>
          <a:xfrm>
            <a:off x="2212848" y="3072384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lang="en-GB" sz="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1"/>
          <p:cNvSpPr/>
          <p:nvPr/>
        </p:nvSpPr>
        <p:spPr>
          <a:xfrm>
            <a:off x="402336" y="3694176"/>
            <a:ext cx="1975200" cy="475500"/>
          </a:xfrm>
          <a:prstGeom prst="rect">
            <a:avLst/>
          </a:prstGeom>
          <a:solidFill>
            <a:srgbClr val="0F1F38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21"/>
          <p:cNvSpPr/>
          <p:nvPr/>
        </p:nvSpPr>
        <p:spPr>
          <a:xfrm>
            <a:off x="402336" y="3694176"/>
            <a:ext cx="54900" cy="475500"/>
          </a:xfrm>
          <a:prstGeom prst="rect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21"/>
          <p:cNvSpPr/>
          <p:nvPr/>
        </p:nvSpPr>
        <p:spPr>
          <a:xfrm>
            <a:off x="512064" y="3694176"/>
            <a:ext cx="18288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GB" sz="1000" b="1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trends_table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1"/>
          <p:cNvSpPr/>
          <p:nvPr/>
        </p:nvSpPr>
        <p:spPr>
          <a:xfrm>
            <a:off x="2212848" y="3712464"/>
            <a:ext cx="255900" cy="255900"/>
          </a:xfrm>
          <a:prstGeom prst="ellipse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21"/>
          <p:cNvSpPr/>
          <p:nvPr/>
        </p:nvSpPr>
        <p:spPr>
          <a:xfrm>
            <a:off x="2212848" y="3712464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lang="en-GB" sz="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1"/>
          <p:cNvSpPr/>
          <p:nvPr/>
        </p:nvSpPr>
        <p:spPr>
          <a:xfrm>
            <a:off x="2743200" y="1207008"/>
            <a:ext cx="6144900" cy="3474600"/>
          </a:xfrm>
          <a:prstGeom prst="rect">
            <a:avLst/>
          </a:prstGeom>
          <a:solidFill>
            <a:srgbClr val="0D1526"/>
          </a:solidFill>
          <a:ln w="9525" cap="flat" cmpd="sng">
            <a:solidFill>
              <a:srgbClr val="1E2D4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2509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21"/>
          <p:cNvSpPr/>
          <p:nvPr/>
        </p:nvSpPr>
        <p:spPr>
          <a:xfrm>
            <a:off x="2743200" y="1207008"/>
            <a:ext cx="6144900" cy="45600"/>
          </a:xfrm>
          <a:prstGeom prst="rect">
            <a:avLst/>
          </a:prstGeom>
          <a:solidFill>
            <a:srgbClr val="38BDF8"/>
          </a:solidFill>
          <a:ln w="127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21"/>
          <p:cNvSpPr/>
          <p:nvPr/>
        </p:nvSpPr>
        <p:spPr>
          <a:xfrm>
            <a:off x="2889504" y="1353312"/>
            <a:ext cx="58521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Calibri"/>
              <a:buNone/>
            </a:pPr>
            <a:r>
              <a:rPr lang="en-GB" sz="1200" b="1" i="0" u="none" strike="noStrike" cap="non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Ingestion Details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1"/>
          <p:cNvSpPr/>
          <p:nvPr/>
        </p:nvSpPr>
        <p:spPr>
          <a:xfrm>
            <a:off x="2889504" y="1773936"/>
            <a:ext cx="347400" cy="347400"/>
          </a:xfrm>
          <a:prstGeom prst="ellipse">
            <a:avLst/>
          </a:prstGeom>
          <a:solidFill>
            <a:srgbClr val="38BDF8">
              <a:alpha val="20000"/>
            </a:srgbClr>
          </a:solidFill>
          <a:ln w="127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21"/>
          <p:cNvSpPr/>
          <p:nvPr/>
        </p:nvSpPr>
        <p:spPr>
          <a:xfrm>
            <a:off x="2889504" y="1773936"/>
            <a:ext cx="3474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100"/>
              <a:buFont typeface="Calibri"/>
              <a:buNone/>
            </a:pPr>
            <a:r>
              <a:rPr lang="en-GB" sz="1100" b="1" i="0" u="none" strike="noStrike" cap="non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1"/>
          <p:cNvSpPr/>
          <p:nvPr/>
        </p:nvSpPr>
        <p:spPr>
          <a:xfrm>
            <a:off x="3346704" y="1773936"/>
            <a:ext cx="25602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GB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Load Raw Data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1"/>
          <p:cNvSpPr/>
          <p:nvPr/>
        </p:nvSpPr>
        <p:spPr>
          <a:xfrm>
            <a:off x="3346704" y="1773936"/>
            <a:ext cx="53766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GB" sz="900" i="0" u="none" strike="noStrike" cap="none">
                <a:solidFill>
                  <a:srgbClr val="94A3B8"/>
                </a:solidFill>
                <a:latin typeface="Comic Sans MS"/>
                <a:ea typeface="Comic Sans MS"/>
                <a:cs typeface="Comic Sans MS"/>
                <a:sym typeface="Comic Sans MS"/>
              </a:rPr>
              <a:t>Load raw tweet, user, sentiment &amp; trend data from CSV files stored in AWS S3.</a:t>
            </a:r>
            <a:endParaRPr sz="900" i="0" u="none" strike="noStrike" cap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00" name="Google Shape;300;p21"/>
          <p:cNvSpPr/>
          <p:nvPr/>
        </p:nvSpPr>
        <p:spPr>
          <a:xfrm>
            <a:off x="2889504" y="2414016"/>
            <a:ext cx="347400" cy="347400"/>
          </a:xfrm>
          <a:prstGeom prst="ellipse">
            <a:avLst/>
          </a:prstGeom>
          <a:solidFill>
            <a:srgbClr val="38BDF8">
              <a:alpha val="20000"/>
            </a:srgbClr>
          </a:solidFill>
          <a:ln w="127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21"/>
          <p:cNvSpPr/>
          <p:nvPr/>
        </p:nvSpPr>
        <p:spPr>
          <a:xfrm>
            <a:off x="2889504" y="2414016"/>
            <a:ext cx="3474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100"/>
              <a:buFont typeface="Calibri"/>
              <a:buNone/>
            </a:pPr>
            <a:r>
              <a:rPr lang="en-GB" sz="1100" b="1" i="0" u="none" strike="noStrike" cap="non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1"/>
          <p:cNvSpPr/>
          <p:nvPr/>
        </p:nvSpPr>
        <p:spPr>
          <a:xfrm>
            <a:off x="3346704" y="2414016"/>
            <a:ext cx="25602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GB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Schema Inference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1"/>
          <p:cNvSpPr/>
          <p:nvPr/>
        </p:nvSpPr>
        <p:spPr>
          <a:xfrm>
            <a:off x="3346704" y="2414016"/>
            <a:ext cx="53766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GB" sz="900" i="0" u="none" strike="noStrike" cap="none">
                <a:solidFill>
                  <a:srgbClr val="94A3B8"/>
                </a:solidFill>
                <a:latin typeface="Comic Sans MS"/>
                <a:ea typeface="Comic Sans MS"/>
                <a:cs typeface="Comic Sans MS"/>
                <a:sym typeface="Comic Sans MS"/>
              </a:rPr>
              <a:t>Detect column types automatically. Timestamps stored as STRING, scores as DOUBLE, IDs as STRING.</a:t>
            </a:r>
            <a:endParaRPr sz="900" i="0" u="none" strike="noStrike" cap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04" name="Google Shape;304;p21"/>
          <p:cNvSpPr/>
          <p:nvPr/>
        </p:nvSpPr>
        <p:spPr>
          <a:xfrm>
            <a:off x="2889504" y="3054096"/>
            <a:ext cx="347400" cy="347400"/>
          </a:xfrm>
          <a:prstGeom prst="ellipse">
            <a:avLst/>
          </a:prstGeom>
          <a:solidFill>
            <a:srgbClr val="38BDF8">
              <a:alpha val="20000"/>
            </a:srgbClr>
          </a:solidFill>
          <a:ln w="127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1"/>
          <p:cNvSpPr/>
          <p:nvPr/>
        </p:nvSpPr>
        <p:spPr>
          <a:xfrm>
            <a:off x="2889504" y="3054096"/>
            <a:ext cx="3474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100"/>
              <a:buFont typeface="Calibri"/>
              <a:buNone/>
            </a:pPr>
            <a:r>
              <a:rPr lang="en-GB" sz="1100" b="1" i="0" u="none" strike="noStrike" cap="non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1"/>
          <p:cNvSpPr/>
          <p:nvPr/>
        </p:nvSpPr>
        <p:spPr>
          <a:xfrm>
            <a:off x="3346704" y="3054096"/>
            <a:ext cx="25602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GB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Add Ingestion Timestamp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1"/>
          <p:cNvSpPr/>
          <p:nvPr/>
        </p:nvSpPr>
        <p:spPr>
          <a:xfrm>
            <a:off x="3346704" y="3054096"/>
            <a:ext cx="53766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GB" sz="900" i="0" u="none" strike="noStrike" cap="none">
                <a:solidFill>
                  <a:srgbClr val="94A3B8"/>
                </a:solidFill>
                <a:latin typeface="Comic Sans MS"/>
                <a:ea typeface="Comic Sans MS"/>
                <a:cs typeface="Comic Sans MS"/>
                <a:sym typeface="Comic Sans MS"/>
              </a:rPr>
              <a:t>Append ingested_at column on every record to track when data entered the pipeline.</a:t>
            </a:r>
            <a:endParaRPr sz="900" i="0" u="none" strike="noStrike" cap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08" name="Google Shape;308;p21"/>
          <p:cNvSpPr/>
          <p:nvPr/>
        </p:nvSpPr>
        <p:spPr>
          <a:xfrm>
            <a:off x="2889504" y="3694176"/>
            <a:ext cx="347400" cy="347400"/>
          </a:xfrm>
          <a:prstGeom prst="ellipse">
            <a:avLst/>
          </a:prstGeom>
          <a:solidFill>
            <a:srgbClr val="38BDF8">
              <a:alpha val="20000"/>
            </a:srgbClr>
          </a:solidFill>
          <a:ln w="127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21"/>
          <p:cNvSpPr/>
          <p:nvPr/>
        </p:nvSpPr>
        <p:spPr>
          <a:xfrm>
            <a:off x="2889504" y="3694176"/>
            <a:ext cx="3474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100"/>
              <a:buFont typeface="Calibri"/>
              <a:buNone/>
            </a:pPr>
            <a:r>
              <a:rPr lang="en-GB" sz="1100" b="1" i="0" u="none" strike="noStrike" cap="non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1"/>
          <p:cNvSpPr/>
          <p:nvPr/>
        </p:nvSpPr>
        <p:spPr>
          <a:xfrm>
            <a:off x="3346704" y="3694176"/>
            <a:ext cx="25602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GB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Validate File Structure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1"/>
          <p:cNvSpPr/>
          <p:nvPr/>
        </p:nvSpPr>
        <p:spPr>
          <a:xfrm>
            <a:off x="3346704" y="3694176"/>
            <a:ext cx="53766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GB" sz="900" i="0" u="none" strike="noStrike" cap="none">
                <a:solidFill>
                  <a:srgbClr val="94A3B8"/>
                </a:solidFill>
                <a:latin typeface="Comic Sans MS"/>
                <a:ea typeface="Comic Sans MS"/>
                <a:cs typeface="Comic Sans MS"/>
                <a:sym typeface="Comic Sans MS"/>
              </a:rPr>
              <a:t>Output clean records to valid_table and flag malformed rows for review.</a:t>
            </a:r>
            <a:endParaRPr sz="900" i="0" u="none" strike="noStrike" cap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12" name="Google Shape;312;p21"/>
          <p:cNvSpPr/>
          <p:nvPr/>
        </p:nvSpPr>
        <p:spPr>
          <a:xfrm>
            <a:off x="365836" y="4306826"/>
            <a:ext cx="1975200" cy="475500"/>
          </a:xfrm>
          <a:prstGeom prst="rect">
            <a:avLst/>
          </a:prstGeom>
          <a:solidFill>
            <a:srgbClr val="0F1F38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21"/>
          <p:cNvSpPr/>
          <p:nvPr/>
        </p:nvSpPr>
        <p:spPr>
          <a:xfrm>
            <a:off x="365836" y="4306826"/>
            <a:ext cx="54900" cy="475500"/>
          </a:xfrm>
          <a:prstGeom prst="rect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21"/>
          <p:cNvSpPr/>
          <p:nvPr/>
        </p:nvSpPr>
        <p:spPr>
          <a:xfrm>
            <a:off x="475564" y="4306826"/>
            <a:ext cx="18288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GB" sz="1000" b="1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valid_table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1"/>
          <p:cNvSpPr/>
          <p:nvPr/>
        </p:nvSpPr>
        <p:spPr>
          <a:xfrm>
            <a:off x="2176348" y="4325114"/>
            <a:ext cx="255900" cy="255900"/>
          </a:xfrm>
          <a:prstGeom prst="ellipse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21"/>
          <p:cNvSpPr/>
          <p:nvPr/>
        </p:nvSpPr>
        <p:spPr>
          <a:xfrm>
            <a:off x="2176348" y="4325114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lang="en-GB" sz="800" b="1">
                <a:latin typeface="Calibri"/>
                <a:ea typeface="Calibri"/>
                <a:cs typeface="Calibri"/>
                <a:sym typeface="Calibri"/>
              </a:rPr>
              <a:t>5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A"/>
        </a:solidFill>
        <a:effectLst/>
      </p:bgPr>
    </p:bg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8BDF8"/>
          </a:solidFill>
          <a:ln w="127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22"/>
          <p:cNvSpPr/>
          <p:nvPr/>
        </p:nvSpPr>
        <p:spPr>
          <a:xfrm>
            <a:off x="54864" y="0"/>
            <a:ext cx="9089136" cy="658368"/>
          </a:xfrm>
          <a:prstGeom prst="rect">
            <a:avLst/>
          </a:prstGeom>
          <a:solidFill>
            <a:srgbClr val="0F1F38"/>
          </a:solidFill>
          <a:ln w="12700" cap="flat" cmpd="sng">
            <a:solidFill>
              <a:srgbClr val="0F1F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22"/>
          <p:cNvSpPr/>
          <p:nvPr/>
        </p:nvSpPr>
        <p:spPr>
          <a:xfrm>
            <a:off x="256032" y="36576"/>
            <a:ext cx="8046720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GB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Silver Layer — Clean Data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2"/>
          <p:cNvSpPr/>
          <p:nvPr/>
        </p:nvSpPr>
        <p:spPr>
          <a:xfrm>
            <a:off x="54864" y="4910328"/>
            <a:ext cx="9089136" cy="233172"/>
          </a:xfrm>
          <a:prstGeom prst="rect">
            <a:avLst/>
          </a:prstGeom>
          <a:solidFill>
            <a:srgbClr val="0F1F38"/>
          </a:solidFill>
          <a:ln w="12700" cap="flat" cmpd="sng">
            <a:solidFill>
              <a:srgbClr val="0F1F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22"/>
          <p:cNvSpPr/>
          <p:nvPr/>
        </p:nvSpPr>
        <p:spPr>
          <a:xfrm>
            <a:off x="256032" y="4919472"/>
            <a:ext cx="7680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GB" sz="8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Real-Time Social Media Sentiment Analysis Pipeline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2"/>
          <p:cNvSpPr/>
          <p:nvPr/>
        </p:nvSpPr>
        <p:spPr>
          <a:xfrm>
            <a:off x="7955280" y="491947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GB" sz="8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8 / 1</a:t>
            </a:r>
            <a:r>
              <a:rPr lang="en-GB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2"/>
          <p:cNvSpPr/>
          <p:nvPr/>
        </p:nvSpPr>
        <p:spPr>
          <a:xfrm>
            <a:off x="256032" y="749808"/>
            <a:ext cx="8595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GB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Performs data cleaning, validation, and standardization.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2"/>
          <p:cNvSpPr/>
          <p:nvPr/>
        </p:nvSpPr>
        <p:spPr>
          <a:xfrm>
            <a:off x="256032" y="1207008"/>
            <a:ext cx="4023360" cy="3474720"/>
          </a:xfrm>
          <a:prstGeom prst="rect">
            <a:avLst/>
          </a:prstGeom>
          <a:solidFill>
            <a:srgbClr val="0D1526"/>
          </a:solidFill>
          <a:ln w="9525" cap="flat" cmpd="sng">
            <a:solidFill>
              <a:srgbClr val="1E2D4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22"/>
          <p:cNvSpPr/>
          <p:nvPr/>
        </p:nvSpPr>
        <p:spPr>
          <a:xfrm>
            <a:off x="256032" y="1207008"/>
            <a:ext cx="4023360" cy="45720"/>
          </a:xfrm>
          <a:prstGeom prst="rect">
            <a:avLst/>
          </a:prstGeom>
          <a:solidFill>
            <a:srgbClr val="94A3B8"/>
          </a:solidFill>
          <a:ln w="12700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22"/>
          <p:cNvSpPr/>
          <p:nvPr/>
        </p:nvSpPr>
        <p:spPr>
          <a:xfrm>
            <a:off x="402336" y="1353312"/>
            <a:ext cx="36576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GB" sz="1200" b="1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Data Cleaning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2"/>
          <p:cNvSpPr/>
          <p:nvPr/>
        </p:nvSpPr>
        <p:spPr>
          <a:xfrm>
            <a:off x="402336" y="1810512"/>
            <a:ext cx="201168" cy="201168"/>
          </a:xfrm>
          <a:prstGeom prst="ellipse">
            <a:avLst/>
          </a:prstGeom>
          <a:solidFill>
            <a:srgbClr val="94A3B8"/>
          </a:solidFill>
          <a:ln w="12700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22"/>
          <p:cNvSpPr/>
          <p:nvPr/>
        </p:nvSpPr>
        <p:spPr>
          <a:xfrm>
            <a:off x="694944" y="1792224"/>
            <a:ext cx="34381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lang="en-GB" sz="95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Convert tweet_timestamp STRING → TIMESTAMP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2"/>
          <p:cNvSpPr/>
          <p:nvPr/>
        </p:nvSpPr>
        <p:spPr>
          <a:xfrm>
            <a:off x="402336" y="2304288"/>
            <a:ext cx="201168" cy="201168"/>
          </a:xfrm>
          <a:prstGeom prst="ellipse">
            <a:avLst/>
          </a:prstGeom>
          <a:solidFill>
            <a:srgbClr val="94A3B8"/>
          </a:solidFill>
          <a:ln w="12700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22"/>
          <p:cNvSpPr/>
          <p:nvPr/>
        </p:nvSpPr>
        <p:spPr>
          <a:xfrm>
            <a:off x="694944" y="2286000"/>
            <a:ext cx="34381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lang="en-GB" sz="95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Convert trend_timestamp STRING → DATE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2"/>
          <p:cNvSpPr/>
          <p:nvPr/>
        </p:nvSpPr>
        <p:spPr>
          <a:xfrm>
            <a:off x="402336" y="2798064"/>
            <a:ext cx="201168" cy="201168"/>
          </a:xfrm>
          <a:prstGeom prst="ellipse">
            <a:avLst/>
          </a:prstGeom>
          <a:solidFill>
            <a:srgbClr val="94A3B8"/>
          </a:solidFill>
          <a:ln w="12700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22"/>
          <p:cNvSpPr/>
          <p:nvPr/>
        </p:nvSpPr>
        <p:spPr>
          <a:xfrm>
            <a:off x="694944" y="2779776"/>
            <a:ext cx="34381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lang="en-GB" sz="95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Standardize user_id DOUBLE → STRING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2"/>
          <p:cNvSpPr/>
          <p:nvPr/>
        </p:nvSpPr>
        <p:spPr>
          <a:xfrm>
            <a:off x="402336" y="3291840"/>
            <a:ext cx="201168" cy="201168"/>
          </a:xfrm>
          <a:prstGeom prst="ellipse">
            <a:avLst/>
          </a:prstGeom>
          <a:solidFill>
            <a:srgbClr val="94A3B8"/>
          </a:solidFill>
          <a:ln w="12700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22"/>
          <p:cNvSpPr/>
          <p:nvPr/>
        </p:nvSpPr>
        <p:spPr>
          <a:xfrm>
            <a:off x="694944" y="3273552"/>
            <a:ext cx="34381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lang="en-GB" sz="95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Remove duplicate timestamp columns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2"/>
          <p:cNvSpPr/>
          <p:nvPr/>
        </p:nvSpPr>
        <p:spPr>
          <a:xfrm>
            <a:off x="402336" y="3785616"/>
            <a:ext cx="201168" cy="201168"/>
          </a:xfrm>
          <a:prstGeom prst="ellipse">
            <a:avLst/>
          </a:prstGeom>
          <a:solidFill>
            <a:srgbClr val="94A3B8"/>
          </a:solidFill>
          <a:ln w="12700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22"/>
          <p:cNvSpPr/>
          <p:nvPr/>
        </p:nvSpPr>
        <p:spPr>
          <a:xfrm>
            <a:off x="694944" y="3767328"/>
            <a:ext cx="34381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lang="en-GB" sz="95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Convert tweets.timestamp STRING → TIMESTAMP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2"/>
          <p:cNvSpPr/>
          <p:nvPr/>
        </p:nvSpPr>
        <p:spPr>
          <a:xfrm>
            <a:off x="4462272" y="1207008"/>
            <a:ext cx="4425696" cy="3474720"/>
          </a:xfrm>
          <a:prstGeom prst="rect">
            <a:avLst/>
          </a:prstGeom>
          <a:solidFill>
            <a:srgbClr val="0D1526"/>
          </a:solidFill>
          <a:ln w="9525" cap="flat" cmpd="sng">
            <a:solidFill>
              <a:srgbClr val="1E2D4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22"/>
          <p:cNvSpPr/>
          <p:nvPr/>
        </p:nvSpPr>
        <p:spPr>
          <a:xfrm>
            <a:off x="4462272" y="1207008"/>
            <a:ext cx="4425696" cy="45720"/>
          </a:xfrm>
          <a:prstGeom prst="rect">
            <a:avLst/>
          </a:prstGeom>
          <a:solidFill>
            <a:srgbClr val="34D399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22"/>
          <p:cNvSpPr/>
          <p:nvPr/>
        </p:nvSpPr>
        <p:spPr>
          <a:xfrm>
            <a:off x="4608576" y="1353312"/>
            <a:ext cx="41148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200"/>
              <a:buFont typeface="Calibri"/>
              <a:buNone/>
            </a:pPr>
            <a:r>
              <a:rPr lang="en-GB" sz="1200" b="1" i="0" u="none" strike="noStrike" cap="non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Data Enrichment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2"/>
          <p:cNvSpPr/>
          <p:nvPr/>
        </p:nvSpPr>
        <p:spPr>
          <a:xfrm>
            <a:off x="4608576" y="1810512"/>
            <a:ext cx="201168" cy="201168"/>
          </a:xfrm>
          <a:prstGeom prst="ellipse">
            <a:avLst/>
          </a:prstGeom>
          <a:solidFill>
            <a:srgbClr val="34D399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22"/>
          <p:cNvSpPr/>
          <p:nvPr/>
        </p:nvSpPr>
        <p:spPr>
          <a:xfrm>
            <a:off x="4901184" y="1792224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lang="en-GB" sz="95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Join tweets + sentiment → valid_table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2"/>
          <p:cNvSpPr/>
          <p:nvPr/>
        </p:nvSpPr>
        <p:spPr>
          <a:xfrm>
            <a:off x="4608576" y="2304288"/>
            <a:ext cx="201168" cy="201168"/>
          </a:xfrm>
          <a:prstGeom prst="ellipse">
            <a:avLst/>
          </a:prstGeom>
          <a:solidFill>
            <a:srgbClr val="34D399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22"/>
          <p:cNvSpPr/>
          <p:nvPr/>
        </p:nvSpPr>
        <p:spPr>
          <a:xfrm>
            <a:off x="4901184" y="228600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lang="en-GB" sz="95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Extract hashtags from each post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2"/>
          <p:cNvSpPr/>
          <p:nvPr/>
        </p:nvSpPr>
        <p:spPr>
          <a:xfrm>
            <a:off x="4608576" y="2798064"/>
            <a:ext cx="201168" cy="201168"/>
          </a:xfrm>
          <a:prstGeom prst="ellipse">
            <a:avLst/>
          </a:prstGeom>
          <a:solidFill>
            <a:srgbClr val="34D399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22"/>
          <p:cNvSpPr/>
          <p:nvPr/>
        </p:nvSpPr>
        <p:spPr>
          <a:xfrm>
            <a:off x="4901184" y="2779776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lang="en-GB" sz="95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Extract date &amp; hour from timestamps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2"/>
          <p:cNvSpPr/>
          <p:nvPr/>
        </p:nvSpPr>
        <p:spPr>
          <a:xfrm>
            <a:off x="4608576" y="3291840"/>
            <a:ext cx="201168" cy="201168"/>
          </a:xfrm>
          <a:prstGeom prst="ellipse">
            <a:avLst/>
          </a:prstGeom>
          <a:solidFill>
            <a:srgbClr val="34D399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22"/>
          <p:cNvSpPr/>
          <p:nvPr/>
        </p:nvSpPr>
        <p:spPr>
          <a:xfrm>
            <a:off x="4901184" y="3273552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lang="en-GB" sz="95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Compute engagement metrics per tweet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2"/>
          <p:cNvSpPr/>
          <p:nvPr/>
        </p:nvSpPr>
        <p:spPr>
          <a:xfrm>
            <a:off x="256032" y="4663440"/>
            <a:ext cx="8631936" cy="128016"/>
          </a:xfrm>
          <a:prstGeom prst="rect">
            <a:avLst/>
          </a:prstGeom>
          <a:solidFill>
            <a:srgbClr val="0F1F38"/>
          </a:solidFill>
          <a:ln w="12700" cap="flat" cmpd="sng">
            <a:solidFill>
              <a:srgbClr val="0F1F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22"/>
          <p:cNvSpPr/>
          <p:nvPr/>
        </p:nvSpPr>
        <p:spPr>
          <a:xfrm>
            <a:off x="256032" y="4315968"/>
            <a:ext cx="2011680" cy="384048"/>
          </a:xfrm>
          <a:prstGeom prst="rect">
            <a:avLst/>
          </a:prstGeom>
          <a:solidFill>
            <a:srgbClr val="0F1F38"/>
          </a:solidFill>
          <a:ln w="12700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22"/>
          <p:cNvSpPr/>
          <p:nvPr/>
        </p:nvSpPr>
        <p:spPr>
          <a:xfrm>
            <a:off x="256032" y="4315968"/>
            <a:ext cx="54864" cy="384048"/>
          </a:xfrm>
          <a:prstGeom prst="rect">
            <a:avLst/>
          </a:prstGeom>
          <a:solidFill>
            <a:srgbClr val="94A3B8"/>
          </a:solidFill>
          <a:ln w="12700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22"/>
          <p:cNvSpPr/>
          <p:nvPr/>
        </p:nvSpPr>
        <p:spPr>
          <a:xfrm>
            <a:off x="347472" y="4315968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GB" sz="900" b="1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→  silver_tweets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2"/>
          <p:cNvSpPr/>
          <p:nvPr/>
        </p:nvSpPr>
        <p:spPr>
          <a:xfrm>
            <a:off x="2322576" y="4315968"/>
            <a:ext cx="2011680" cy="384048"/>
          </a:xfrm>
          <a:prstGeom prst="rect">
            <a:avLst/>
          </a:prstGeom>
          <a:solidFill>
            <a:srgbClr val="0F1F38"/>
          </a:solidFill>
          <a:ln w="12700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22"/>
          <p:cNvSpPr/>
          <p:nvPr/>
        </p:nvSpPr>
        <p:spPr>
          <a:xfrm>
            <a:off x="2322576" y="4315968"/>
            <a:ext cx="54864" cy="384048"/>
          </a:xfrm>
          <a:prstGeom prst="rect">
            <a:avLst/>
          </a:prstGeom>
          <a:solidFill>
            <a:srgbClr val="94A3B8"/>
          </a:solidFill>
          <a:ln w="12700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22"/>
          <p:cNvSpPr/>
          <p:nvPr/>
        </p:nvSpPr>
        <p:spPr>
          <a:xfrm>
            <a:off x="2414016" y="4315968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GB" sz="900" b="1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→  silver_users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2"/>
          <p:cNvSpPr/>
          <p:nvPr/>
        </p:nvSpPr>
        <p:spPr>
          <a:xfrm>
            <a:off x="4389120" y="4315968"/>
            <a:ext cx="2011680" cy="384048"/>
          </a:xfrm>
          <a:prstGeom prst="rect">
            <a:avLst/>
          </a:prstGeom>
          <a:solidFill>
            <a:srgbClr val="0F1F38"/>
          </a:solidFill>
          <a:ln w="12700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22"/>
          <p:cNvSpPr/>
          <p:nvPr/>
        </p:nvSpPr>
        <p:spPr>
          <a:xfrm>
            <a:off x="4389120" y="4315968"/>
            <a:ext cx="54864" cy="384048"/>
          </a:xfrm>
          <a:prstGeom prst="rect">
            <a:avLst/>
          </a:prstGeom>
          <a:solidFill>
            <a:srgbClr val="94A3B8"/>
          </a:solidFill>
          <a:ln w="12700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22"/>
          <p:cNvSpPr/>
          <p:nvPr/>
        </p:nvSpPr>
        <p:spPr>
          <a:xfrm>
            <a:off x="4480560" y="4315968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GB" sz="900" b="1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→  silver_sentiment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2"/>
          <p:cNvSpPr/>
          <p:nvPr/>
        </p:nvSpPr>
        <p:spPr>
          <a:xfrm>
            <a:off x="6455664" y="4315968"/>
            <a:ext cx="2011680" cy="384048"/>
          </a:xfrm>
          <a:prstGeom prst="rect">
            <a:avLst/>
          </a:prstGeom>
          <a:solidFill>
            <a:srgbClr val="0F1F38"/>
          </a:solidFill>
          <a:ln w="12700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22"/>
          <p:cNvSpPr/>
          <p:nvPr/>
        </p:nvSpPr>
        <p:spPr>
          <a:xfrm>
            <a:off x="6455664" y="4315968"/>
            <a:ext cx="54864" cy="384048"/>
          </a:xfrm>
          <a:prstGeom prst="rect">
            <a:avLst/>
          </a:prstGeom>
          <a:solidFill>
            <a:srgbClr val="94A3B8"/>
          </a:solidFill>
          <a:ln w="12700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22"/>
          <p:cNvSpPr/>
          <p:nvPr/>
        </p:nvSpPr>
        <p:spPr>
          <a:xfrm>
            <a:off x="6547104" y="4315968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GB" sz="900" b="1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→  silver_topics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A"/>
        </a:solidFill>
        <a:effectLst/>
      </p:bgPr>
    </p:bg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3"/>
          <p:cNvSpPr/>
          <p:nvPr/>
        </p:nvSpPr>
        <p:spPr>
          <a:xfrm>
            <a:off x="0" y="0"/>
            <a:ext cx="54900" cy="5143500"/>
          </a:xfrm>
          <a:prstGeom prst="rect">
            <a:avLst/>
          </a:prstGeom>
          <a:solidFill>
            <a:srgbClr val="38BDF8"/>
          </a:solidFill>
          <a:ln w="127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23"/>
          <p:cNvSpPr/>
          <p:nvPr/>
        </p:nvSpPr>
        <p:spPr>
          <a:xfrm>
            <a:off x="54864" y="0"/>
            <a:ext cx="9089100" cy="658500"/>
          </a:xfrm>
          <a:prstGeom prst="rect">
            <a:avLst/>
          </a:prstGeom>
          <a:solidFill>
            <a:srgbClr val="0F1F38"/>
          </a:solidFill>
          <a:ln w="12700" cap="flat" cmpd="sng">
            <a:solidFill>
              <a:srgbClr val="0F1F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23"/>
          <p:cNvSpPr/>
          <p:nvPr/>
        </p:nvSpPr>
        <p:spPr>
          <a:xfrm>
            <a:off x="256032" y="36576"/>
            <a:ext cx="8046600" cy="5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GB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Gold Layer — Analytics Data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3"/>
          <p:cNvSpPr/>
          <p:nvPr/>
        </p:nvSpPr>
        <p:spPr>
          <a:xfrm>
            <a:off x="54864" y="4910328"/>
            <a:ext cx="9089100" cy="233100"/>
          </a:xfrm>
          <a:prstGeom prst="rect">
            <a:avLst/>
          </a:prstGeom>
          <a:solidFill>
            <a:srgbClr val="0F1F38"/>
          </a:solidFill>
          <a:ln w="12700" cap="flat" cmpd="sng">
            <a:solidFill>
              <a:srgbClr val="0F1F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23"/>
          <p:cNvSpPr/>
          <p:nvPr/>
        </p:nvSpPr>
        <p:spPr>
          <a:xfrm>
            <a:off x="256032" y="4919472"/>
            <a:ext cx="76809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GB" sz="8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Real-Time Social Media Sentiment Analysis Pipeline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3"/>
          <p:cNvSpPr/>
          <p:nvPr/>
        </p:nvSpPr>
        <p:spPr>
          <a:xfrm>
            <a:off x="7964182" y="4919472"/>
            <a:ext cx="1097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GB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r>
              <a:rPr lang="en-GB" sz="8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/ 1</a:t>
            </a:r>
            <a:r>
              <a:rPr lang="en-GB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3"/>
          <p:cNvSpPr/>
          <p:nvPr/>
        </p:nvSpPr>
        <p:spPr>
          <a:xfrm>
            <a:off x="256032" y="749808"/>
            <a:ext cx="85953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GB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Aggregated datasets optimized for analytics and reporting, powered by dbt feature engineering.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3"/>
          <p:cNvSpPr/>
          <p:nvPr/>
        </p:nvSpPr>
        <p:spPr>
          <a:xfrm>
            <a:off x="256032" y="1207008"/>
            <a:ext cx="4023300" cy="2377500"/>
          </a:xfrm>
          <a:prstGeom prst="rect">
            <a:avLst/>
          </a:prstGeom>
          <a:solidFill>
            <a:srgbClr val="0D1526"/>
          </a:solidFill>
          <a:ln w="9525" cap="flat" cmpd="sng">
            <a:solidFill>
              <a:srgbClr val="1E2D4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23"/>
          <p:cNvSpPr/>
          <p:nvPr/>
        </p:nvSpPr>
        <p:spPr>
          <a:xfrm>
            <a:off x="256032" y="1207008"/>
            <a:ext cx="4023300" cy="45600"/>
          </a:xfrm>
          <a:prstGeom prst="rect">
            <a:avLst/>
          </a:prstGeom>
          <a:solidFill>
            <a:srgbClr val="FBBF24"/>
          </a:solidFill>
          <a:ln w="12700" cap="flat" cmpd="sng">
            <a:solidFill>
              <a:srgbClr val="FBBF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23"/>
          <p:cNvSpPr/>
          <p:nvPr/>
        </p:nvSpPr>
        <p:spPr>
          <a:xfrm>
            <a:off x="402336" y="1353312"/>
            <a:ext cx="36576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400"/>
              <a:buFont typeface="Calibri"/>
              <a:buNone/>
            </a:pPr>
            <a:r>
              <a:rPr lang="en-GB" sz="1400" b="1" i="0" u="none" strike="noStrike" cap="none">
                <a:solidFill>
                  <a:srgbClr val="FBBF24"/>
                </a:solidFill>
                <a:latin typeface="Calibri"/>
                <a:ea typeface="Calibri"/>
                <a:cs typeface="Calibri"/>
                <a:sym typeface="Calibri"/>
              </a:rPr>
              <a:t>fact_tweet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3"/>
          <p:cNvSpPr/>
          <p:nvPr/>
        </p:nvSpPr>
        <p:spPr>
          <a:xfrm>
            <a:off x="402336" y="1810512"/>
            <a:ext cx="54900" cy="255900"/>
          </a:xfrm>
          <a:prstGeom prst="rect">
            <a:avLst/>
          </a:prstGeom>
          <a:solidFill>
            <a:srgbClr val="FBBF24"/>
          </a:solidFill>
          <a:ln w="12700" cap="flat" cmpd="sng">
            <a:solidFill>
              <a:srgbClr val="FBBF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23"/>
          <p:cNvSpPr/>
          <p:nvPr/>
        </p:nvSpPr>
        <p:spPr>
          <a:xfrm>
            <a:off x="530352" y="1810512"/>
            <a:ext cx="17373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/>
              <a:buNone/>
            </a:pPr>
            <a:r>
              <a:rPr lang="en-GB" sz="900" b="1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tweet_id, user_id, topic_id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3"/>
          <p:cNvSpPr/>
          <p:nvPr/>
        </p:nvSpPr>
        <p:spPr>
          <a:xfrm>
            <a:off x="2286000" y="1810512"/>
            <a:ext cx="18288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lang="en-GB" sz="850" i="0" u="none" strike="noStrike" cap="none">
                <a:solidFill>
                  <a:srgbClr val="94A3B8"/>
                </a:solidFill>
                <a:latin typeface="Comic Sans MS"/>
                <a:ea typeface="Comic Sans MS"/>
                <a:cs typeface="Comic Sans MS"/>
                <a:sym typeface="Comic Sans MS"/>
              </a:rPr>
              <a:t>Primary &amp; foreign keys</a:t>
            </a:r>
            <a:endParaRPr sz="850" i="0" u="none" strike="noStrike" cap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84" name="Google Shape;384;p23"/>
          <p:cNvSpPr/>
          <p:nvPr/>
        </p:nvSpPr>
        <p:spPr>
          <a:xfrm>
            <a:off x="402336" y="2157984"/>
            <a:ext cx="54900" cy="255900"/>
          </a:xfrm>
          <a:prstGeom prst="rect">
            <a:avLst/>
          </a:prstGeom>
          <a:solidFill>
            <a:srgbClr val="FBBF24"/>
          </a:solidFill>
          <a:ln w="12700" cap="flat" cmpd="sng">
            <a:solidFill>
              <a:srgbClr val="FBBF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23"/>
          <p:cNvSpPr/>
          <p:nvPr/>
        </p:nvSpPr>
        <p:spPr>
          <a:xfrm>
            <a:off x="530352" y="2157984"/>
            <a:ext cx="17373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/>
              <a:buNone/>
            </a:pPr>
            <a:r>
              <a:rPr lang="en-GB" sz="900" b="1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sentiment_label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3"/>
          <p:cNvSpPr/>
          <p:nvPr/>
        </p:nvSpPr>
        <p:spPr>
          <a:xfrm>
            <a:off x="2286000" y="2157984"/>
            <a:ext cx="18288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lang="en-GB" sz="850" i="0" u="none" strike="noStrike" cap="none">
                <a:solidFill>
                  <a:srgbClr val="94A3B8"/>
                </a:solidFill>
                <a:latin typeface="Comic Sans MS"/>
                <a:ea typeface="Comic Sans MS"/>
                <a:cs typeface="Comic Sans MS"/>
                <a:sym typeface="Comic Sans MS"/>
              </a:rPr>
              <a:t>Classified sentiment (pos/neg/neutral)</a:t>
            </a:r>
            <a:endParaRPr sz="850" i="0" u="none" strike="noStrike" cap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87" name="Google Shape;387;p23"/>
          <p:cNvSpPr/>
          <p:nvPr/>
        </p:nvSpPr>
        <p:spPr>
          <a:xfrm>
            <a:off x="402336" y="2505456"/>
            <a:ext cx="54900" cy="255900"/>
          </a:xfrm>
          <a:prstGeom prst="rect">
            <a:avLst/>
          </a:prstGeom>
          <a:solidFill>
            <a:srgbClr val="FBBF24"/>
          </a:solidFill>
          <a:ln w="12700" cap="flat" cmpd="sng">
            <a:solidFill>
              <a:srgbClr val="FBBF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23"/>
          <p:cNvSpPr/>
          <p:nvPr/>
        </p:nvSpPr>
        <p:spPr>
          <a:xfrm>
            <a:off x="530352" y="2505456"/>
            <a:ext cx="17373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/>
              <a:buNone/>
            </a:pPr>
            <a:r>
              <a:rPr lang="en-GB" sz="900" b="1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country_id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3"/>
          <p:cNvSpPr/>
          <p:nvPr/>
        </p:nvSpPr>
        <p:spPr>
          <a:xfrm>
            <a:off x="2286000" y="2505456"/>
            <a:ext cx="18288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lang="en-GB" sz="850" i="0" u="none" strike="noStrike" cap="none">
                <a:solidFill>
                  <a:srgbClr val="94A3B8"/>
                </a:solidFill>
                <a:latin typeface="Comic Sans MS"/>
                <a:ea typeface="Comic Sans MS"/>
                <a:cs typeface="Comic Sans MS"/>
                <a:sym typeface="Comic Sans MS"/>
              </a:rPr>
              <a:t>Geographic dimension</a:t>
            </a:r>
            <a:endParaRPr sz="850" i="0" u="none" strike="noStrike" cap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90" name="Google Shape;390;p23"/>
          <p:cNvSpPr/>
          <p:nvPr/>
        </p:nvSpPr>
        <p:spPr>
          <a:xfrm>
            <a:off x="402336" y="2852928"/>
            <a:ext cx="54900" cy="255900"/>
          </a:xfrm>
          <a:prstGeom prst="rect">
            <a:avLst/>
          </a:prstGeom>
          <a:solidFill>
            <a:srgbClr val="FBBF24"/>
          </a:solidFill>
          <a:ln w="12700" cap="flat" cmpd="sng">
            <a:solidFill>
              <a:srgbClr val="FBBF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23"/>
          <p:cNvSpPr/>
          <p:nvPr/>
        </p:nvSpPr>
        <p:spPr>
          <a:xfrm>
            <a:off x="530352" y="2852928"/>
            <a:ext cx="17373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/>
              <a:buNone/>
            </a:pPr>
            <a:r>
              <a:rPr lang="en-GB" sz="900" b="1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engagement_rate_pct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3"/>
          <p:cNvSpPr/>
          <p:nvPr/>
        </p:nvSpPr>
        <p:spPr>
          <a:xfrm>
            <a:off x="2286000" y="2852928"/>
            <a:ext cx="18288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lang="en-GB" sz="850" i="0" u="none" strike="noStrike" cap="none">
                <a:solidFill>
                  <a:srgbClr val="94A3B8"/>
                </a:solidFill>
                <a:latin typeface="Comic Sans MS"/>
                <a:ea typeface="Comic Sans MS"/>
                <a:cs typeface="Comic Sans MS"/>
                <a:sym typeface="Comic Sans MS"/>
              </a:rPr>
              <a:t>Engagement metric</a:t>
            </a:r>
            <a:endParaRPr sz="850" i="0" u="none" strike="noStrike" cap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93" name="Google Shape;393;p23"/>
          <p:cNvSpPr/>
          <p:nvPr/>
        </p:nvSpPr>
        <p:spPr>
          <a:xfrm>
            <a:off x="402336" y="3200400"/>
            <a:ext cx="54900" cy="255900"/>
          </a:xfrm>
          <a:prstGeom prst="rect">
            <a:avLst/>
          </a:prstGeom>
          <a:solidFill>
            <a:srgbClr val="FBBF24"/>
          </a:solidFill>
          <a:ln w="12700" cap="flat" cmpd="sng">
            <a:solidFill>
              <a:srgbClr val="FBBF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23"/>
          <p:cNvSpPr/>
          <p:nvPr/>
        </p:nvSpPr>
        <p:spPr>
          <a:xfrm>
            <a:off x="530352" y="3200400"/>
            <a:ext cx="17373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/>
              <a:buNone/>
            </a:pPr>
            <a:r>
              <a:rPr lang="en-GB" sz="900" b="1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is_valid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3"/>
          <p:cNvSpPr/>
          <p:nvPr/>
        </p:nvSpPr>
        <p:spPr>
          <a:xfrm>
            <a:off x="2286000" y="3200400"/>
            <a:ext cx="18288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lang="en-GB" sz="850" i="0" u="none" strike="noStrike" cap="none">
                <a:solidFill>
                  <a:srgbClr val="94A3B8"/>
                </a:solidFill>
                <a:latin typeface="Comic Sans MS"/>
                <a:ea typeface="Comic Sans MS"/>
                <a:cs typeface="Comic Sans MS"/>
                <a:sym typeface="Comic Sans MS"/>
              </a:rPr>
              <a:t>Data quality flag</a:t>
            </a:r>
            <a:endParaRPr sz="850" i="0" u="none" strike="noStrike" cap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96" name="Google Shape;396;p23"/>
          <p:cNvSpPr/>
          <p:nvPr/>
        </p:nvSpPr>
        <p:spPr>
          <a:xfrm>
            <a:off x="4462272" y="1207008"/>
            <a:ext cx="4425600" cy="2377500"/>
          </a:xfrm>
          <a:prstGeom prst="rect">
            <a:avLst/>
          </a:prstGeom>
          <a:solidFill>
            <a:srgbClr val="0D1526"/>
          </a:solidFill>
          <a:ln w="9525" cap="flat" cmpd="sng">
            <a:solidFill>
              <a:srgbClr val="1E2D4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23"/>
          <p:cNvSpPr/>
          <p:nvPr/>
        </p:nvSpPr>
        <p:spPr>
          <a:xfrm>
            <a:off x="4462272" y="1207008"/>
            <a:ext cx="4425600" cy="45600"/>
          </a:xfrm>
          <a:prstGeom prst="rect">
            <a:avLst/>
          </a:prstGeom>
          <a:solidFill>
            <a:srgbClr val="34D399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23"/>
          <p:cNvSpPr/>
          <p:nvPr/>
        </p:nvSpPr>
        <p:spPr>
          <a:xfrm>
            <a:off x="4608576" y="1353312"/>
            <a:ext cx="41148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400"/>
              <a:buFont typeface="Calibri"/>
              <a:buNone/>
            </a:pPr>
            <a:r>
              <a:rPr lang="en-GB" sz="1400" b="1" i="0" u="none" strike="noStrike" cap="non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fact_trend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3"/>
          <p:cNvSpPr/>
          <p:nvPr/>
        </p:nvSpPr>
        <p:spPr>
          <a:xfrm>
            <a:off x="4608576" y="1810512"/>
            <a:ext cx="54900" cy="255900"/>
          </a:xfrm>
          <a:prstGeom prst="rect">
            <a:avLst/>
          </a:prstGeom>
          <a:solidFill>
            <a:srgbClr val="34D399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23"/>
          <p:cNvSpPr/>
          <p:nvPr/>
        </p:nvSpPr>
        <p:spPr>
          <a:xfrm>
            <a:off x="4736592" y="1810512"/>
            <a:ext cx="18288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/>
              <a:buNone/>
            </a:pPr>
            <a:r>
              <a:rPr lang="en-GB" sz="900" b="1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trend_timestamp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3"/>
          <p:cNvSpPr/>
          <p:nvPr/>
        </p:nvSpPr>
        <p:spPr>
          <a:xfrm>
            <a:off x="6583680" y="1810512"/>
            <a:ext cx="21030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lang="en-GB" sz="850" i="0" u="none" strike="noStrike" cap="none">
                <a:solidFill>
                  <a:srgbClr val="94A3B8"/>
                </a:solidFill>
                <a:latin typeface="Comic Sans MS"/>
                <a:ea typeface="Comic Sans MS"/>
                <a:cs typeface="Comic Sans MS"/>
                <a:sym typeface="Comic Sans MS"/>
              </a:rPr>
              <a:t>When trend was recorded</a:t>
            </a:r>
            <a:endParaRPr sz="850" i="0" u="none" strike="noStrike" cap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02" name="Google Shape;402;p23"/>
          <p:cNvSpPr/>
          <p:nvPr/>
        </p:nvSpPr>
        <p:spPr>
          <a:xfrm>
            <a:off x="4608576" y="2157984"/>
            <a:ext cx="54900" cy="255900"/>
          </a:xfrm>
          <a:prstGeom prst="rect">
            <a:avLst/>
          </a:prstGeom>
          <a:solidFill>
            <a:srgbClr val="34D399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23"/>
          <p:cNvSpPr/>
          <p:nvPr/>
        </p:nvSpPr>
        <p:spPr>
          <a:xfrm>
            <a:off x="4736592" y="2157984"/>
            <a:ext cx="18288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/>
              <a:buNone/>
            </a:pPr>
            <a:r>
              <a:rPr lang="en-GB" sz="900" b="1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trend_score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3"/>
          <p:cNvSpPr/>
          <p:nvPr/>
        </p:nvSpPr>
        <p:spPr>
          <a:xfrm>
            <a:off x="6583680" y="2157984"/>
            <a:ext cx="21030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lang="en-GB" sz="850" i="0" u="none" strike="noStrike" cap="none">
                <a:solidFill>
                  <a:srgbClr val="94A3B8"/>
                </a:solidFill>
                <a:latin typeface="Comic Sans MS"/>
                <a:ea typeface="Comic Sans MS"/>
                <a:cs typeface="Comic Sans MS"/>
                <a:sym typeface="Comic Sans MS"/>
              </a:rPr>
              <a:t>Trend intensity score</a:t>
            </a:r>
            <a:endParaRPr sz="850" i="0" u="none" strike="noStrike" cap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05" name="Google Shape;405;p23"/>
          <p:cNvSpPr/>
          <p:nvPr/>
        </p:nvSpPr>
        <p:spPr>
          <a:xfrm>
            <a:off x="4608576" y="2505456"/>
            <a:ext cx="54900" cy="255900"/>
          </a:xfrm>
          <a:prstGeom prst="rect">
            <a:avLst/>
          </a:prstGeom>
          <a:solidFill>
            <a:srgbClr val="34D399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23"/>
          <p:cNvSpPr/>
          <p:nvPr/>
        </p:nvSpPr>
        <p:spPr>
          <a:xfrm>
            <a:off x="4736592" y="2505456"/>
            <a:ext cx="18288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/>
              <a:buNone/>
            </a:pPr>
            <a:r>
              <a:rPr lang="en-GB" sz="900" b="1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trend_strength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3"/>
          <p:cNvSpPr/>
          <p:nvPr/>
        </p:nvSpPr>
        <p:spPr>
          <a:xfrm>
            <a:off x="6583680" y="2505456"/>
            <a:ext cx="21030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lang="en-GB" sz="850" i="0" u="none" strike="noStrike" cap="none">
                <a:solidFill>
                  <a:srgbClr val="94A3B8"/>
                </a:solidFill>
                <a:latin typeface="Comic Sans MS"/>
                <a:ea typeface="Comic Sans MS"/>
                <a:cs typeface="Comic Sans MS"/>
                <a:sym typeface="Comic Sans MS"/>
              </a:rPr>
              <a:t>Categorical strength label</a:t>
            </a:r>
            <a:endParaRPr sz="850" i="0" u="none" strike="noStrike" cap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08" name="Google Shape;408;p23"/>
          <p:cNvSpPr/>
          <p:nvPr/>
        </p:nvSpPr>
        <p:spPr>
          <a:xfrm>
            <a:off x="4608576" y="2852928"/>
            <a:ext cx="54900" cy="255900"/>
          </a:xfrm>
          <a:prstGeom prst="rect">
            <a:avLst/>
          </a:prstGeom>
          <a:solidFill>
            <a:srgbClr val="34D399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23"/>
          <p:cNvSpPr/>
          <p:nvPr/>
        </p:nvSpPr>
        <p:spPr>
          <a:xfrm>
            <a:off x="4736592" y="2852928"/>
            <a:ext cx="18288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/>
              <a:buNone/>
            </a:pPr>
            <a:r>
              <a:rPr lang="en-GB" sz="900" b="1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is_top3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3"/>
          <p:cNvSpPr/>
          <p:nvPr/>
        </p:nvSpPr>
        <p:spPr>
          <a:xfrm>
            <a:off x="6583680" y="2852928"/>
            <a:ext cx="21030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lang="en-GB" sz="850" i="0" u="none" strike="noStrike" cap="none">
                <a:solidFill>
                  <a:srgbClr val="94A3B8"/>
                </a:solidFill>
                <a:latin typeface="Comic Sans MS"/>
                <a:ea typeface="Comic Sans MS"/>
                <a:cs typeface="Comic Sans MS"/>
                <a:sym typeface="Comic Sans MS"/>
              </a:rPr>
              <a:t>Top trending flag</a:t>
            </a:r>
            <a:endParaRPr sz="850" i="0" u="none" strike="noStrike" cap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11" name="Google Shape;411;p23"/>
          <p:cNvSpPr/>
          <p:nvPr/>
        </p:nvSpPr>
        <p:spPr>
          <a:xfrm>
            <a:off x="4608576" y="3200400"/>
            <a:ext cx="54900" cy="255900"/>
          </a:xfrm>
          <a:prstGeom prst="rect">
            <a:avLst/>
          </a:prstGeom>
          <a:solidFill>
            <a:srgbClr val="34D399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23"/>
          <p:cNvSpPr/>
          <p:nvPr/>
        </p:nvSpPr>
        <p:spPr>
          <a:xfrm>
            <a:off x="4736592" y="3200400"/>
            <a:ext cx="18288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/>
              <a:buNone/>
            </a:pPr>
            <a:r>
              <a:rPr lang="en-GB" sz="900" b="1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country_id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3"/>
          <p:cNvSpPr/>
          <p:nvPr/>
        </p:nvSpPr>
        <p:spPr>
          <a:xfrm>
            <a:off x="6583680" y="3200400"/>
            <a:ext cx="21030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lang="en-GB" sz="850" i="0" u="none" strike="noStrike" cap="none">
                <a:solidFill>
                  <a:srgbClr val="94A3B8"/>
                </a:solidFill>
                <a:latin typeface="Comic Sans MS"/>
                <a:ea typeface="Comic Sans MS"/>
                <a:cs typeface="Comic Sans MS"/>
                <a:sym typeface="Comic Sans MS"/>
              </a:rPr>
              <a:t>Geographic dimension</a:t>
            </a:r>
            <a:endParaRPr sz="850" i="0" u="none" strike="noStrike" cap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14" name="Google Shape;414;p23"/>
          <p:cNvSpPr/>
          <p:nvPr/>
        </p:nvSpPr>
        <p:spPr>
          <a:xfrm>
            <a:off x="256032" y="3767328"/>
            <a:ext cx="8631900" cy="731400"/>
          </a:xfrm>
          <a:prstGeom prst="rect">
            <a:avLst/>
          </a:prstGeom>
          <a:solidFill>
            <a:srgbClr val="0F1F38"/>
          </a:solidFill>
          <a:ln w="12700" cap="flat" cmpd="sng">
            <a:solidFill>
              <a:srgbClr val="818C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23"/>
          <p:cNvSpPr/>
          <p:nvPr/>
        </p:nvSpPr>
        <p:spPr>
          <a:xfrm>
            <a:off x="256032" y="3767328"/>
            <a:ext cx="63900" cy="731400"/>
          </a:xfrm>
          <a:prstGeom prst="rect">
            <a:avLst/>
          </a:prstGeom>
          <a:solidFill>
            <a:srgbClr val="818CF8"/>
          </a:solidFill>
          <a:ln w="12700" cap="flat" cmpd="sng">
            <a:solidFill>
              <a:srgbClr val="818C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23"/>
          <p:cNvSpPr/>
          <p:nvPr/>
        </p:nvSpPr>
        <p:spPr>
          <a:xfrm>
            <a:off x="420624" y="3822192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18CF8"/>
              </a:buClr>
              <a:buSzPts val="1100"/>
              <a:buFont typeface="Calibri"/>
              <a:buNone/>
            </a:pPr>
            <a:r>
              <a:rPr lang="en-GB" sz="1100" b="1" i="0" u="none" strike="noStrike" cap="none">
                <a:solidFill>
                  <a:srgbClr val="818CF8"/>
                </a:solidFill>
                <a:latin typeface="Calibri"/>
                <a:ea typeface="Calibri"/>
                <a:cs typeface="Calibri"/>
                <a:sym typeface="Calibri"/>
              </a:rPr>
              <a:t>Feature Engineering via dbt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3"/>
          <p:cNvSpPr/>
          <p:nvPr/>
        </p:nvSpPr>
        <p:spPr>
          <a:xfrm>
            <a:off x="420624" y="4096512"/>
            <a:ext cx="82296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lang="en-GB" sz="950" i="0" u="none" strike="noStrike" cap="none">
                <a:solidFill>
                  <a:srgbClr val="94A3B8"/>
                </a:solidFill>
                <a:latin typeface="Comic Sans MS"/>
                <a:ea typeface="Comic Sans MS"/>
                <a:cs typeface="Comic Sans MS"/>
                <a:sym typeface="Comic Sans MS"/>
              </a:rPr>
              <a:t>sentiment_score · engagement_score · topic_category — dbt transforms raw Silver data into analytics-ready Gold features</a:t>
            </a:r>
            <a:endParaRPr sz="950" i="0" u="none" strike="noStrike" cap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A"/>
        </a:solidFill>
        <a:effectLst/>
      </p:bgPr>
    </p:bg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4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8BDF8"/>
          </a:solidFill>
          <a:ln w="127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24"/>
          <p:cNvSpPr/>
          <p:nvPr/>
        </p:nvSpPr>
        <p:spPr>
          <a:xfrm>
            <a:off x="54864" y="0"/>
            <a:ext cx="9089136" cy="658368"/>
          </a:xfrm>
          <a:prstGeom prst="rect">
            <a:avLst/>
          </a:prstGeom>
          <a:solidFill>
            <a:srgbClr val="0F1F38"/>
          </a:solidFill>
          <a:ln w="12700" cap="flat" cmpd="sng">
            <a:solidFill>
              <a:srgbClr val="0F1F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24"/>
          <p:cNvSpPr/>
          <p:nvPr/>
        </p:nvSpPr>
        <p:spPr>
          <a:xfrm>
            <a:off x="256032" y="36576"/>
            <a:ext cx="8046720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GB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Model — Star Schema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4"/>
          <p:cNvSpPr/>
          <p:nvPr/>
        </p:nvSpPr>
        <p:spPr>
          <a:xfrm>
            <a:off x="54864" y="4910328"/>
            <a:ext cx="9089136" cy="233172"/>
          </a:xfrm>
          <a:prstGeom prst="rect">
            <a:avLst/>
          </a:prstGeom>
          <a:solidFill>
            <a:srgbClr val="0F1F38"/>
          </a:solidFill>
          <a:ln w="12700" cap="flat" cmpd="sng">
            <a:solidFill>
              <a:srgbClr val="0F1F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24"/>
          <p:cNvSpPr/>
          <p:nvPr/>
        </p:nvSpPr>
        <p:spPr>
          <a:xfrm>
            <a:off x="256032" y="4919472"/>
            <a:ext cx="7680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GB" sz="8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Real-Time Social Media Sentiment Analysis Pipeline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4"/>
          <p:cNvSpPr/>
          <p:nvPr/>
        </p:nvSpPr>
        <p:spPr>
          <a:xfrm>
            <a:off x="7955280" y="491947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GB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r>
              <a:rPr lang="en-GB" sz="8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/ 1</a:t>
            </a:r>
            <a:r>
              <a:rPr lang="en-GB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4"/>
          <p:cNvSpPr/>
          <p:nvPr/>
        </p:nvSpPr>
        <p:spPr>
          <a:xfrm>
            <a:off x="256032" y="749808"/>
            <a:ext cx="85953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GB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Fact and dimension tables designed for efficient analytical queries in Databricks SQL.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0" name="Google Shape;43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812" y="998700"/>
            <a:ext cx="8741724" cy="3764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A"/>
        </a:solidFill>
        <a:effectLst/>
      </p:bgPr>
    </p:bg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5"/>
          <p:cNvSpPr/>
          <p:nvPr/>
        </p:nvSpPr>
        <p:spPr>
          <a:xfrm>
            <a:off x="0" y="0"/>
            <a:ext cx="54900" cy="5143500"/>
          </a:xfrm>
          <a:prstGeom prst="rect">
            <a:avLst/>
          </a:prstGeom>
          <a:solidFill>
            <a:srgbClr val="38BDF8"/>
          </a:solidFill>
          <a:ln w="127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25"/>
          <p:cNvSpPr/>
          <p:nvPr/>
        </p:nvSpPr>
        <p:spPr>
          <a:xfrm>
            <a:off x="54864" y="0"/>
            <a:ext cx="9089100" cy="658500"/>
          </a:xfrm>
          <a:prstGeom prst="rect">
            <a:avLst/>
          </a:prstGeom>
          <a:solidFill>
            <a:srgbClr val="0F1F38"/>
          </a:solidFill>
          <a:ln w="12700" cap="flat" cmpd="sng">
            <a:solidFill>
              <a:srgbClr val="0F1F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25"/>
          <p:cNvSpPr/>
          <p:nvPr/>
        </p:nvSpPr>
        <p:spPr>
          <a:xfrm>
            <a:off x="256032" y="36576"/>
            <a:ext cx="8046600" cy="5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GB" sz="2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Testing &amp; Validation — Data Quality Checks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5"/>
          <p:cNvSpPr txBox="1"/>
          <p:nvPr/>
        </p:nvSpPr>
        <p:spPr>
          <a:xfrm>
            <a:off x="260700" y="1102950"/>
            <a:ext cx="3945000" cy="16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 b="1">
                <a:solidFill>
                  <a:schemeClr val="lt1"/>
                </a:solidFill>
              </a:rPr>
              <a:t>🥉 Bronze Layer</a:t>
            </a:r>
            <a:r>
              <a:rPr lang="en-GB" sz="1300">
                <a:solidFill>
                  <a:schemeClr val="lt1"/>
                </a:solidFill>
              </a:rPr>
              <a:t> — Raw Ingestion Checks</a:t>
            </a:r>
            <a:endParaRPr sz="1300">
              <a:solidFill>
                <a:schemeClr val="lt1"/>
              </a:solidFill>
            </a:endParaRPr>
          </a:p>
          <a:p>
            <a:pPr marL="457200" lvl="0" indent="-31115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-GB" sz="1300">
                <a:solidFill>
                  <a:schemeClr val="lt1"/>
                </a:solidFill>
              </a:rPr>
              <a:t>Schema &amp; table existence verified</a:t>
            </a:r>
            <a:endParaRPr sz="1300">
              <a:solidFill>
                <a:schemeClr val="lt1"/>
              </a:solidFill>
            </a:endParaRPr>
          </a:p>
          <a:p>
            <a:pPr marL="457200" lvl="0" indent="-3111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-GB" sz="1300">
                <a:solidFill>
                  <a:schemeClr val="lt1"/>
                </a:solidFill>
              </a:rPr>
              <a:t>Column naming convention (lowercase enforced)</a:t>
            </a:r>
            <a:endParaRPr sz="1300">
              <a:solidFill>
                <a:schemeClr val="lt1"/>
              </a:solidFill>
            </a:endParaRPr>
          </a:p>
          <a:p>
            <a:pPr marL="457200" lvl="0" indent="-3111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-GB" sz="13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ingested_at</a:t>
            </a:r>
            <a:r>
              <a:rPr lang="en-GB" sz="1300">
                <a:solidFill>
                  <a:schemeClr val="lt1"/>
                </a:solidFill>
              </a:rPr>
              <a:t> never null</a:t>
            </a:r>
            <a:endParaRPr sz="1300">
              <a:solidFill>
                <a:schemeClr val="lt1"/>
              </a:solidFill>
            </a:endParaRPr>
          </a:p>
          <a:p>
            <a:pPr marL="457200" lvl="0" indent="-3111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-GB" sz="1300">
                <a:solidFill>
                  <a:schemeClr val="lt1"/>
                </a:solidFill>
              </a:rPr>
              <a:t>NULL threshold &lt; 10% allowed (raw data tolerance)</a:t>
            </a:r>
            <a:endParaRPr sz="1300">
              <a:solidFill>
                <a:schemeClr val="lt1"/>
              </a:solidFill>
            </a:endParaRPr>
          </a:p>
          <a:p>
            <a:pPr marL="457200" lvl="0" indent="-3111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-GB" sz="1300">
                <a:solidFill>
                  <a:schemeClr val="lt1"/>
                </a:solidFill>
              </a:rPr>
              <a:t>Basic duplicate awareness</a:t>
            </a:r>
            <a:endParaRPr sz="130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300" b="1">
              <a:solidFill>
                <a:schemeClr val="lt1"/>
              </a:solidFill>
            </a:endParaRPr>
          </a:p>
        </p:txBody>
      </p:sp>
      <p:sp>
        <p:nvSpPr>
          <p:cNvPr id="440" name="Google Shape;440;p25"/>
          <p:cNvSpPr txBox="1"/>
          <p:nvPr/>
        </p:nvSpPr>
        <p:spPr>
          <a:xfrm>
            <a:off x="4350250" y="1102950"/>
            <a:ext cx="5297400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</a:rPr>
              <a:t>🥈 Silver Layer — Clean Data Checks</a:t>
            </a:r>
            <a:endParaRPr sz="1300">
              <a:solidFill>
                <a:schemeClr val="lt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-GB" sz="1300">
                <a:solidFill>
                  <a:schemeClr val="lt1"/>
                </a:solidFill>
              </a:rPr>
              <a:t>Strict duplicate removal on </a:t>
            </a:r>
            <a:r>
              <a:rPr lang="en-GB" sz="13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tweet_id</a:t>
            </a:r>
            <a:r>
              <a:rPr lang="en-GB" sz="1300">
                <a:solidFill>
                  <a:schemeClr val="lt1"/>
                </a:solidFill>
              </a:rPr>
              <a:t> &amp; </a:t>
            </a:r>
            <a:r>
              <a:rPr lang="en-GB" sz="13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user_id</a:t>
            </a:r>
            <a:endParaRPr sz="13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-GB" sz="1300">
                <a:solidFill>
                  <a:schemeClr val="lt1"/>
                </a:solidFill>
              </a:rPr>
              <a:t>No nulls in critical columns (tweet_id, tweet_text, user_id)</a:t>
            </a:r>
            <a:endParaRPr sz="1300">
              <a:solidFill>
                <a:schemeClr val="lt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-GB" sz="1300">
                <a:solidFill>
                  <a:schemeClr val="lt1"/>
                </a:solidFill>
              </a:rPr>
              <a:t>Sentiment score range validated (−1 to +1)</a:t>
            </a:r>
            <a:endParaRPr sz="1300">
              <a:solidFill>
                <a:schemeClr val="lt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-GB" sz="1300">
                <a:solidFill>
                  <a:schemeClr val="lt1"/>
                </a:solidFill>
              </a:rPr>
              <a:t>Timestamp &amp; engagement values verified</a:t>
            </a:r>
            <a:endParaRPr sz="1300">
              <a:solidFill>
                <a:schemeClr val="lt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-GB" sz="1300">
                <a:solidFill>
                  <a:schemeClr val="lt1"/>
                </a:solidFill>
              </a:rPr>
              <a:t>Text cleaning confirmed (no empty/null strings)</a:t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441" name="Google Shape;441;p25"/>
          <p:cNvSpPr txBox="1"/>
          <p:nvPr/>
        </p:nvSpPr>
        <p:spPr>
          <a:xfrm>
            <a:off x="1805925" y="3074525"/>
            <a:ext cx="8205000" cy="16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 b="1">
                <a:solidFill>
                  <a:schemeClr val="lt1"/>
                </a:solidFill>
              </a:rPr>
              <a:t>🥇 Gold Layer</a:t>
            </a:r>
            <a:r>
              <a:rPr lang="en-GB" sz="1300">
                <a:solidFill>
                  <a:schemeClr val="lt1"/>
                </a:solidFill>
              </a:rPr>
              <a:t> — Business Layer Checks</a:t>
            </a:r>
            <a:endParaRPr sz="1300">
              <a:solidFill>
                <a:schemeClr val="lt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-GB" sz="1300">
                <a:solidFill>
                  <a:schemeClr val="lt1"/>
                </a:solidFill>
              </a:rPr>
              <a:t>Dimension &amp; fact tables existence confirmed</a:t>
            </a:r>
            <a:endParaRPr sz="1300">
              <a:solidFill>
                <a:schemeClr val="lt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-GB" sz="1300">
                <a:solidFill>
                  <a:schemeClr val="lt1"/>
                </a:solidFill>
              </a:rPr>
              <a:t>Soft validations (monitoring, not blocking):</a:t>
            </a:r>
            <a:endParaRPr sz="1300">
              <a:solidFill>
                <a:schemeClr val="lt1"/>
              </a:solidFill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</a:pPr>
            <a:r>
              <a:rPr lang="en-GB" sz="1300">
                <a:solidFill>
                  <a:schemeClr val="lt1"/>
                </a:solidFill>
              </a:rPr>
              <a:t>Duplicate user ratio logged</a:t>
            </a:r>
            <a:endParaRPr sz="1300">
              <a:solidFill>
                <a:schemeClr val="lt1"/>
              </a:solidFill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</a:pPr>
            <a:r>
              <a:rPr lang="en-GB" sz="1300">
                <a:solidFill>
                  <a:schemeClr val="lt1"/>
                </a:solidFill>
              </a:rPr>
              <a:t>Engagement rate % within 0–100</a:t>
            </a:r>
            <a:endParaRPr sz="1300">
              <a:solidFill>
                <a:schemeClr val="lt1"/>
              </a:solidFill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</a:pPr>
            <a:r>
              <a:rPr lang="en-GB" sz="1300">
                <a:solidFill>
                  <a:schemeClr val="lt1"/>
                </a:solidFill>
              </a:rPr>
              <a:t>Sentiment label only: Positive / Negative / Neutral</a:t>
            </a:r>
            <a:endParaRPr sz="1300">
              <a:solidFill>
                <a:schemeClr val="lt1"/>
              </a:solidFill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</a:pPr>
            <a:r>
              <a:rPr lang="en-GB" sz="1300">
                <a:solidFill>
                  <a:schemeClr val="lt1"/>
                </a:solidFill>
              </a:rPr>
              <a:t>FK null ratios tracked</a:t>
            </a:r>
            <a:endParaRPr sz="13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000">
              <a:solidFill>
                <a:schemeClr val="lt1"/>
              </a:solidFill>
            </a:endParaRPr>
          </a:p>
        </p:txBody>
      </p:sp>
      <p:sp>
        <p:nvSpPr>
          <p:cNvPr id="442" name="Google Shape;442;p25"/>
          <p:cNvSpPr/>
          <p:nvPr/>
        </p:nvSpPr>
        <p:spPr>
          <a:xfrm>
            <a:off x="54864" y="4910328"/>
            <a:ext cx="9089100" cy="233100"/>
          </a:xfrm>
          <a:prstGeom prst="rect">
            <a:avLst/>
          </a:prstGeom>
          <a:solidFill>
            <a:srgbClr val="0F1F38"/>
          </a:solidFill>
          <a:ln w="12700" cap="flat" cmpd="sng">
            <a:solidFill>
              <a:srgbClr val="0F1F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25"/>
          <p:cNvSpPr/>
          <p:nvPr/>
        </p:nvSpPr>
        <p:spPr>
          <a:xfrm>
            <a:off x="256032" y="4919472"/>
            <a:ext cx="76809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GB" sz="8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Real-Time Social Media Sentiment Analysis Pipeline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5"/>
          <p:cNvSpPr/>
          <p:nvPr/>
        </p:nvSpPr>
        <p:spPr>
          <a:xfrm>
            <a:off x="7955280" y="4919472"/>
            <a:ext cx="1097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GB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r>
              <a:rPr lang="en-GB" sz="8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/ 1</a:t>
            </a:r>
            <a:r>
              <a:rPr lang="en-GB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A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6"/>
          <p:cNvSpPr/>
          <p:nvPr/>
        </p:nvSpPr>
        <p:spPr>
          <a:xfrm>
            <a:off x="0" y="0"/>
            <a:ext cx="54900" cy="5143500"/>
          </a:xfrm>
          <a:prstGeom prst="rect">
            <a:avLst/>
          </a:prstGeom>
          <a:solidFill>
            <a:srgbClr val="38BDF8"/>
          </a:solidFill>
          <a:ln w="127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26"/>
          <p:cNvSpPr/>
          <p:nvPr/>
        </p:nvSpPr>
        <p:spPr>
          <a:xfrm>
            <a:off x="54864" y="0"/>
            <a:ext cx="9089100" cy="658500"/>
          </a:xfrm>
          <a:prstGeom prst="rect">
            <a:avLst/>
          </a:prstGeom>
          <a:solidFill>
            <a:srgbClr val="0F1F38"/>
          </a:solidFill>
          <a:ln w="12700" cap="flat" cmpd="sng">
            <a:solidFill>
              <a:srgbClr val="0F1F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p26"/>
          <p:cNvSpPr/>
          <p:nvPr/>
        </p:nvSpPr>
        <p:spPr>
          <a:xfrm>
            <a:off x="7" y="1"/>
            <a:ext cx="8046600" cy="5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GB" sz="2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Pipeline Orchestration — Apache Airflow DAG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6"/>
          <p:cNvSpPr/>
          <p:nvPr/>
        </p:nvSpPr>
        <p:spPr>
          <a:xfrm>
            <a:off x="54864" y="4910328"/>
            <a:ext cx="9089100" cy="233100"/>
          </a:xfrm>
          <a:prstGeom prst="rect">
            <a:avLst/>
          </a:prstGeom>
          <a:solidFill>
            <a:srgbClr val="0F1F38"/>
          </a:solidFill>
          <a:ln w="12700" cap="flat" cmpd="sng">
            <a:solidFill>
              <a:srgbClr val="0F1F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p26"/>
          <p:cNvSpPr/>
          <p:nvPr/>
        </p:nvSpPr>
        <p:spPr>
          <a:xfrm>
            <a:off x="256032" y="4919472"/>
            <a:ext cx="76809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GB" sz="8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Real-Time Social Media Sentiment Analysis Pipeline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26"/>
          <p:cNvSpPr/>
          <p:nvPr/>
        </p:nvSpPr>
        <p:spPr>
          <a:xfrm>
            <a:off x="7955280" y="4919472"/>
            <a:ext cx="1097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GB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r>
              <a:rPr lang="en-GB" sz="8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/ 1</a:t>
            </a:r>
            <a:r>
              <a:rPr lang="en-GB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6" name="Google Shape;456;p26"/>
          <p:cNvPicPr preferRelativeResize="0"/>
          <p:nvPr/>
        </p:nvPicPr>
        <p:blipFill rotWithShape="1">
          <a:blip r:embed="rId3">
            <a:alphaModFix/>
          </a:blip>
          <a:srcRect t="12966" b="14998"/>
          <a:stretch/>
        </p:blipFill>
        <p:spPr>
          <a:xfrm>
            <a:off x="278000" y="658500"/>
            <a:ext cx="8587999" cy="247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26"/>
          <p:cNvSpPr txBox="1"/>
          <p:nvPr/>
        </p:nvSpPr>
        <p:spPr>
          <a:xfrm>
            <a:off x="375825" y="3298100"/>
            <a:ext cx="2021700" cy="16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              S3 Sensor</a:t>
            </a:r>
            <a:endParaRPr sz="1100" b="1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Waits for bronze_*.csv files in source bucket</a:t>
            </a:r>
            <a:endParaRPr sz="110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Polls every 60s, times out at 10 min</a:t>
            </a:r>
            <a:endParaRPr sz="110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58" name="Google Shape;458;p26"/>
          <p:cNvSpPr/>
          <p:nvPr/>
        </p:nvSpPr>
        <p:spPr>
          <a:xfrm>
            <a:off x="627725" y="3388675"/>
            <a:ext cx="252900" cy="2013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26"/>
          <p:cNvSpPr txBox="1"/>
          <p:nvPr/>
        </p:nvSpPr>
        <p:spPr>
          <a:xfrm>
            <a:off x="2619000" y="3298100"/>
            <a:ext cx="3597900" cy="17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              Stream Setup (parallel, x5)</a:t>
            </a:r>
            <a:endParaRPr sz="1100" b="1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Creates 5 Kinesis streams (metadata, sentiment, trends, tweets, valid)</a:t>
            </a:r>
            <a:endParaRPr sz="110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Each Kinesis → paired Firehose → lands in S3 as Parquet</a:t>
            </a:r>
            <a:endParaRPr sz="110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100"/>
              </a:spcAft>
              <a:buNone/>
            </a:pPr>
            <a:endParaRPr sz="1100" b="1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60" name="Google Shape;460;p26"/>
          <p:cNvSpPr/>
          <p:nvPr/>
        </p:nvSpPr>
        <p:spPr>
          <a:xfrm>
            <a:off x="2859675" y="3388675"/>
            <a:ext cx="252900" cy="201300"/>
          </a:xfrm>
          <a:prstGeom prst="rightArrow">
            <a:avLst>
              <a:gd name="adj1" fmla="val 50000"/>
              <a:gd name="adj2" fmla="val 45678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26"/>
          <p:cNvSpPr txBox="1"/>
          <p:nvPr/>
        </p:nvSpPr>
        <p:spPr>
          <a:xfrm>
            <a:off x="6126075" y="3204875"/>
            <a:ext cx="2787600" cy="21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              Databricks Trigger</a:t>
            </a:r>
            <a:endParaRPr sz="1100" b="1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Fires DatabricksRunNowOperator after all streams are ready</a:t>
            </a:r>
            <a:endParaRPr sz="110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Kicks off Bronze → Silver → Gold transformation pipeline</a:t>
            </a:r>
            <a:endParaRPr sz="110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100"/>
              </a:spcAft>
              <a:buNone/>
            </a:pPr>
            <a:endParaRPr sz="1100" b="1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62" name="Google Shape;462;p26"/>
          <p:cNvSpPr/>
          <p:nvPr/>
        </p:nvSpPr>
        <p:spPr>
          <a:xfrm>
            <a:off x="6321839" y="3295450"/>
            <a:ext cx="205800" cy="201300"/>
          </a:xfrm>
          <a:prstGeom prst="rightArrow">
            <a:avLst>
              <a:gd name="adj1" fmla="val 50000"/>
              <a:gd name="adj2" fmla="val 45678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A"/>
        </a:solidFill>
        <a:effectLst/>
      </p:bgPr>
    </p:bg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7"/>
          <p:cNvSpPr/>
          <p:nvPr/>
        </p:nvSpPr>
        <p:spPr>
          <a:xfrm>
            <a:off x="0" y="0"/>
            <a:ext cx="54900" cy="5143500"/>
          </a:xfrm>
          <a:prstGeom prst="rect">
            <a:avLst/>
          </a:prstGeom>
          <a:solidFill>
            <a:srgbClr val="38BDF8"/>
          </a:solidFill>
          <a:ln w="127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27"/>
          <p:cNvSpPr/>
          <p:nvPr/>
        </p:nvSpPr>
        <p:spPr>
          <a:xfrm>
            <a:off x="54864" y="0"/>
            <a:ext cx="9089100" cy="658500"/>
          </a:xfrm>
          <a:prstGeom prst="rect">
            <a:avLst/>
          </a:prstGeom>
          <a:solidFill>
            <a:srgbClr val="0F1F38"/>
          </a:solidFill>
          <a:ln w="12700" cap="flat" cmpd="sng">
            <a:solidFill>
              <a:srgbClr val="0F1F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27"/>
          <p:cNvSpPr/>
          <p:nvPr/>
        </p:nvSpPr>
        <p:spPr>
          <a:xfrm>
            <a:off x="7" y="1"/>
            <a:ext cx="8046600" cy="5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GB" sz="2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Live Dashboard — Overview, tweet activity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7"/>
          <p:cNvSpPr/>
          <p:nvPr/>
        </p:nvSpPr>
        <p:spPr>
          <a:xfrm>
            <a:off x="54864" y="4910328"/>
            <a:ext cx="9089100" cy="233100"/>
          </a:xfrm>
          <a:prstGeom prst="rect">
            <a:avLst/>
          </a:prstGeom>
          <a:solidFill>
            <a:srgbClr val="0F1F38"/>
          </a:solidFill>
          <a:ln w="12700" cap="flat" cmpd="sng">
            <a:solidFill>
              <a:srgbClr val="0F1F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27"/>
          <p:cNvSpPr/>
          <p:nvPr/>
        </p:nvSpPr>
        <p:spPr>
          <a:xfrm>
            <a:off x="256032" y="4919472"/>
            <a:ext cx="76809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GB" sz="8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Real-Time Social Media Sentiment Analysis Pipeline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7"/>
          <p:cNvSpPr/>
          <p:nvPr/>
        </p:nvSpPr>
        <p:spPr>
          <a:xfrm>
            <a:off x="7955280" y="4919472"/>
            <a:ext cx="1097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GB" sz="8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GB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GB" sz="8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/ 1</a:t>
            </a:r>
            <a:r>
              <a:rPr lang="en-GB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4" name="Google Shape;47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425" y="658500"/>
            <a:ext cx="4354224" cy="3365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p27"/>
          <p:cNvPicPr preferRelativeResize="0"/>
          <p:nvPr/>
        </p:nvPicPr>
        <p:blipFill rotWithShape="1">
          <a:blip r:embed="rId4">
            <a:alphaModFix/>
          </a:blip>
          <a:srcRect t="1286" b="1286"/>
          <a:stretch/>
        </p:blipFill>
        <p:spPr>
          <a:xfrm>
            <a:off x="4698450" y="658500"/>
            <a:ext cx="4354225" cy="3372089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27"/>
          <p:cNvSpPr txBox="1"/>
          <p:nvPr/>
        </p:nvSpPr>
        <p:spPr>
          <a:xfrm>
            <a:off x="138300" y="3954825"/>
            <a:ext cx="4354200" cy="9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</a:rPr>
              <a:t>The Overview Dashboard tracks daily tweet volume, sentiment breakdown, and geographic reach across top countries — all in one unified view. It highlights top topics like AI, Finance, Cloud, and Sports while monitoring engagement trends over time.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477" name="Google Shape;477;p27"/>
          <p:cNvSpPr txBox="1"/>
          <p:nvPr/>
        </p:nvSpPr>
        <p:spPr>
          <a:xfrm>
            <a:off x="4673375" y="3988250"/>
            <a:ext cx="4278000" cy="9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</a:rPr>
              <a:t>The Tweet Activity Dashboard highlights key metrics — </a:t>
            </a:r>
            <a:r>
              <a:rPr lang="en-GB" sz="1100" b="1">
                <a:solidFill>
                  <a:schemeClr val="lt1"/>
                </a:solidFill>
              </a:rPr>
              <a:t>24K avg tweets/day</a:t>
            </a:r>
            <a:r>
              <a:rPr lang="en-GB" sz="1100">
                <a:solidFill>
                  <a:schemeClr val="lt1"/>
                </a:solidFill>
              </a:rPr>
              <a:t>, a peak hour at </a:t>
            </a:r>
            <a:r>
              <a:rPr lang="en-GB" sz="1100" b="1">
                <a:solidFill>
                  <a:schemeClr val="lt1"/>
                </a:solidFill>
              </a:rPr>
              <a:t>12 PM</a:t>
            </a:r>
            <a:r>
              <a:rPr lang="en-GB" sz="1100">
                <a:solidFill>
                  <a:schemeClr val="lt1"/>
                </a:solidFill>
              </a:rPr>
              <a:t>, and </a:t>
            </a:r>
            <a:r>
              <a:rPr lang="en-GB" sz="1100" b="1">
                <a:solidFill>
                  <a:schemeClr val="lt1"/>
                </a:solidFill>
              </a:rPr>
              <a:t>146M total likes</a:t>
            </a:r>
            <a:r>
              <a:rPr lang="en-GB" sz="1100">
                <a:solidFill>
                  <a:schemeClr val="lt1"/>
                </a:solidFill>
              </a:rPr>
              <a:t> for January 2025. It breaks down activity by hour, day of week, and engagement mix, showing Thursdays and midday as the highest-traffic windows.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A"/>
        </a:solidFill>
        <a:effectLst/>
      </p:bgPr>
    </p:bg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28"/>
          <p:cNvSpPr/>
          <p:nvPr/>
        </p:nvSpPr>
        <p:spPr>
          <a:xfrm>
            <a:off x="0" y="0"/>
            <a:ext cx="54900" cy="5143500"/>
          </a:xfrm>
          <a:prstGeom prst="rect">
            <a:avLst/>
          </a:prstGeom>
          <a:solidFill>
            <a:srgbClr val="38BDF8"/>
          </a:solidFill>
          <a:ln w="127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28"/>
          <p:cNvSpPr/>
          <p:nvPr/>
        </p:nvSpPr>
        <p:spPr>
          <a:xfrm>
            <a:off x="54864" y="0"/>
            <a:ext cx="9089100" cy="658500"/>
          </a:xfrm>
          <a:prstGeom prst="rect">
            <a:avLst/>
          </a:prstGeom>
          <a:solidFill>
            <a:srgbClr val="0F1F38"/>
          </a:solidFill>
          <a:ln w="12700" cap="flat" cmpd="sng">
            <a:solidFill>
              <a:srgbClr val="0F1F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28"/>
          <p:cNvSpPr/>
          <p:nvPr/>
        </p:nvSpPr>
        <p:spPr>
          <a:xfrm>
            <a:off x="7" y="1"/>
            <a:ext cx="8046600" cy="5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GB" sz="2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Live Dashboard —  Sentiment Analysis, Trend Analysis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8"/>
          <p:cNvSpPr/>
          <p:nvPr/>
        </p:nvSpPr>
        <p:spPr>
          <a:xfrm>
            <a:off x="54864" y="4910328"/>
            <a:ext cx="9089100" cy="233100"/>
          </a:xfrm>
          <a:prstGeom prst="rect">
            <a:avLst/>
          </a:prstGeom>
          <a:solidFill>
            <a:srgbClr val="0F1F38"/>
          </a:solidFill>
          <a:ln w="12700" cap="flat" cmpd="sng">
            <a:solidFill>
              <a:srgbClr val="0F1F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28"/>
          <p:cNvSpPr/>
          <p:nvPr/>
        </p:nvSpPr>
        <p:spPr>
          <a:xfrm>
            <a:off x="256032" y="4919472"/>
            <a:ext cx="76809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GB" sz="8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Real-Time Social Media Sentiment Analysis Pipeline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8"/>
          <p:cNvSpPr/>
          <p:nvPr/>
        </p:nvSpPr>
        <p:spPr>
          <a:xfrm>
            <a:off x="7955280" y="4919472"/>
            <a:ext cx="1097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GB" sz="8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GB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en-GB" sz="8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/ 1</a:t>
            </a:r>
            <a:r>
              <a:rPr lang="en-GB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8"/>
          <p:cNvSpPr txBox="1"/>
          <p:nvPr/>
        </p:nvSpPr>
        <p:spPr>
          <a:xfrm>
            <a:off x="138300" y="4023900"/>
            <a:ext cx="4354200" cy="8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</a:rPr>
              <a:t>Shows positive vs. negative sentiment split across AI, Finance, Cloud, and Sports topics — with Finance leading at 113K positive tweets and sentiment scores fluctuating near neutral throughout January.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490" name="Google Shape;490;p28"/>
          <p:cNvSpPr txBox="1"/>
          <p:nvPr/>
        </p:nvSpPr>
        <p:spPr>
          <a:xfrm>
            <a:off x="4673375" y="3988250"/>
            <a:ext cx="4278000" cy="9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</a:rPr>
              <a:t>Categorizes tweets by trend strength — Low, Trending, Growing, and Viral — with Canada leading in trend score and overall sentiment remaining consistently positive across all five countries throughout January 2025.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491" name="Google Shape;49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300" y="741925"/>
            <a:ext cx="4245663" cy="324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92500" y="775350"/>
            <a:ext cx="4458874" cy="317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A"/>
        </a:solidFill>
        <a:effectLst/>
      </p:bgPr>
    </p:bg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29"/>
          <p:cNvSpPr/>
          <p:nvPr/>
        </p:nvSpPr>
        <p:spPr>
          <a:xfrm>
            <a:off x="0" y="0"/>
            <a:ext cx="54900" cy="5143500"/>
          </a:xfrm>
          <a:prstGeom prst="rect">
            <a:avLst/>
          </a:prstGeom>
          <a:solidFill>
            <a:srgbClr val="38BDF8"/>
          </a:solidFill>
          <a:ln w="127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29"/>
          <p:cNvSpPr/>
          <p:nvPr/>
        </p:nvSpPr>
        <p:spPr>
          <a:xfrm>
            <a:off x="54864" y="0"/>
            <a:ext cx="9089100" cy="658500"/>
          </a:xfrm>
          <a:prstGeom prst="rect">
            <a:avLst/>
          </a:prstGeom>
          <a:solidFill>
            <a:srgbClr val="0F1F38"/>
          </a:solidFill>
          <a:ln w="12700" cap="flat" cmpd="sng">
            <a:solidFill>
              <a:srgbClr val="0F1F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29"/>
          <p:cNvSpPr/>
          <p:nvPr/>
        </p:nvSpPr>
        <p:spPr>
          <a:xfrm>
            <a:off x="7" y="1"/>
            <a:ext cx="8046600" cy="5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GB" sz="2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Live Dashboard —  Users &amp; influence</a:t>
            </a:r>
            <a:endParaRPr sz="20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9"/>
          <p:cNvSpPr/>
          <p:nvPr/>
        </p:nvSpPr>
        <p:spPr>
          <a:xfrm>
            <a:off x="54864" y="4910328"/>
            <a:ext cx="9089100" cy="233100"/>
          </a:xfrm>
          <a:prstGeom prst="rect">
            <a:avLst/>
          </a:prstGeom>
          <a:solidFill>
            <a:srgbClr val="0F1F38"/>
          </a:solidFill>
          <a:ln w="12700" cap="flat" cmpd="sng">
            <a:solidFill>
              <a:srgbClr val="0F1F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29"/>
          <p:cNvSpPr/>
          <p:nvPr/>
        </p:nvSpPr>
        <p:spPr>
          <a:xfrm>
            <a:off x="256032" y="4919472"/>
            <a:ext cx="76809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GB" sz="8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Real-Time Social Media Sentiment Analysis Pipeline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9"/>
          <p:cNvSpPr/>
          <p:nvPr/>
        </p:nvSpPr>
        <p:spPr>
          <a:xfrm>
            <a:off x="7955280" y="4919472"/>
            <a:ext cx="1097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GB" sz="8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GB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lang="en-GB" sz="8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/ 1</a:t>
            </a:r>
            <a:r>
              <a:rPr lang="en-GB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4" name="Google Shape;50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025" y="795025"/>
            <a:ext cx="8263051" cy="3311300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29"/>
          <p:cNvSpPr txBox="1"/>
          <p:nvPr/>
        </p:nvSpPr>
        <p:spPr>
          <a:xfrm>
            <a:off x="322800" y="4138075"/>
            <a:ext cx="8196300" cy="6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</a:rPr>
              <a:t>Breaks down user influence across countries — Canada leads with ~50K avg followers — segmenting users into Macro Influencers, Micro Influencers, and Regular Users. Higher influence scores clearly correlate with stronger engagement across all regions.</a:t>
            </a:r>
            <a:endParaRPr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A"/>
        </a:solidFill>
        <a:effectLst/>
      </p:bgPr>
    </p:bg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30"/>
          <p:cNvSpPr/>
          <p:nvPr/>
        </p:nvSpPr>
        <p:spPr>
          <a:xfrm>
            <a:off x="0" y="0"/>
            <a:ext cx="54900" cy="5143500"/>
          </a:xfrm>
          <a:prstGeom prst="rect">
            <a:avLst/>
          </a:prstGeom>
          <a:solidFill>
            <a:srgbClr val="38BDF8"/>
          </a:solidFill>
          <a:ln w="127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" name="Google Shape;512;p30"/>
          <p:cNvSpPr/>
          <p:nvPr/>
        </p:nvSpPr>
        <p:spPr>
          <a:xfrm>
            <a:off x="54864" y="0"/>
            <a:ext cx="9089100" cy="658500"/>
          </a:xfrm>
          <a:prstGeom prst="rect">
            <a:avLst/>
          </a:prstGeom>
          <a:solidFill>
            <a:srgbClr val="0F1F38"/>
          </a:solidFill>
          <a:ln w="12700" cap="flat" cmpd="sng">
            <a:solidFill>
              <a:srgbClr val="0F1F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30"/>
          <p:cNvSpPr/>
          <p:nvPr/>
        </p:nvSpPr>
        <p:spPr>
          <a:xfrm>
            <a:off x="7" y="1"/>
            <a:ext cx="8046600" cy="5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GB" sz="2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Business Insights 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30"/>
          <p:cNvSpPr/>
          <p:nvPr/>
        </p:nvSpPr>
        <p:spPr>
          <a:xfrm>
            <a:off x="54864" y="4910328"/>
            <a:ext cx="9089100" cy="233100"/>
          </a:xfrm>
          <a:prstGeom prst="rect">
            <a:avLst/>
          </a:prstGeom>
          <a:solidFill>
            <a:srgbClr val="0F1F38"/>
          </a:solidFill>
          <a:ln w="12700" cap="flat" cmpd="sng">
            <a:solidFill>
              <a:srgbClr val="0F1F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30"/>
          <p:cNvSpPr/>
          <p:nvPr/>
        </p:nvSpPr>
        <p:spPr>
          <a:xfrm>
            <a:off x="256032" y="4919472"/>
            <a:ext cx="76809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GB" sz="8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Real-Time Social Media Sentiment Analysis Pipeline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30"/>
          <p:cNvSpPr/>
          <p:nvPr/>
        </p:nvSpPr>
        <p:spPr>
          <a:xfrm>
            <a:off x="7955280" y="4919472"/>
            <a:ext cx="1097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GB" sz="8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GB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lang="en-GB" sz="8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/ 1</a:t>
            </a:r>
            <a:r>
              <a:rPr lang="en-GB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30"/>
          <p:cNvSpPr/>
          <p:nvPr/>
        </p:nvSpPr>
        <p:spPr>
          <a:xfrm>
            <a:off x="256032" y="749808"/>
            <a:ext cx="85953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GB" sz="1100" i="0" u="none" strike="noStrike" cap="none">
                <a:solidFill>
                  <a:srgbClr val="94A3B8"/>
                </a:solidFill>
                <a:latin typeface="Comic Sans MS"/>
                <a:ea typeface="Comic Sans MS"/>
                <a:cs typeface="Comic Sans MS"/>
                <a:sym typeface="Comic Sans MS"/>
              </a:rPr>
              <a:t>Key findings extracted from the sentiment analysis pipeline across 2020 US election Twitter data.</a:t>
            </a:r>
            <a:endParaRPr sz="1100" i="0" u="none" strike="noStrike" cap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18" name="Google Shape;518;p30"/>
          <p:cNvSpPr/>
          <p:nvPr/>
        </p:nvSpPr>
        <p:spPr>
          <a:xfrm>
            <a:off x="256032" y="1243584"/>
            <a:ext cx="2743200" cy="1572900"/>
          </a:xfrm>
          <a:prstGeom prst="rect">
            <a:avLst/>
          </a:prstGeom>
          <a:solidFill>
            <a:srgbClr val="0D1526"/>
          </a:solidFill>
          <a:ln w="9525" cap="flat" cmpd="sng">
            <a:solidFill>
              <a:srgbClr val="1E2D4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2509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30"/>
          <p:cNvSpPr/>
          <p:nvPr/>
        </p:nvSpPr>
        <p:spPr>
          <a:xfrm>
            <a:off x="256032" y="1243584"/>
            <a:ext cx="2743200" cy="45600"/>
          </a:xfrm>
          <a:prstGeom prst="rect">
            <a:avLst/>
          </a:prstGeom>
          <a:solidFill>
            <a:srgbClr val="38BDF8"/>
          </a:solidFill>
          <a:ln w="127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20" name="Google Shape;520;p3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0624" y="1408176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30"/>
          <p:cNvSpPr/>
          <p:nvPr/>
        </p:nvSpPr>
        <p:spPr>
          <a:xfrm>
            <a:off x="914400" y="1426464"/>
            <a:ext cx="1938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GB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Sentiment Trends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30"/>
          <p:cNvSpPr/>
          <p:nvPr/>
        </p:nvSpPr>
        <p:spPr>
          <a:xfrm>
            <a:off x="420624" y="1920240"/>
            <a:ext cx="24141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GB" sz="900" i="0" u="none" strike="noStrike" cap="none">
                <a:solidFill>
                  <a:srgbClr val="94A3B8"/>
                </a:solidFill>
                <a:latin typeface="Comic Sans MS"/>
                <a:ea typeface="Comic Sans MS"/>
                <a:cs typeface="Comic Sans MS"/>
                <a:sym typeface="Comic Sans MS"/>
              </a:rPr>
              <a:t>Public sentiment spikes sharply during presidential debates and major campaign events, revealing emotional inflection points.</a:t>
            </a:r>
            <a:endParaRPr sz="900" i="0" u="none" strike="noStrike" cap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23" name="Google Shape;523;p30"/>
          <p:cNvSpPr/>
          <p:nvPr/>
        </p:nvSpPr>
        <p:spPr>
          <a:xfrm>
            <a:off x="3127248" y="1243584"/>
            <a:ext cx="2743200" cy="1572900"/>
          </a:xfrm>
          <a:prstGeom prst="rect">
            <a:avLst/>
          </a:prstGeom>
          <a:solidFill>
            <a:srgbClr val="0D1526"/>
          </a:solidFill>
          <a:ln w="9525" cap="flat" cmpd="sng">
            <a:solidFill>
              <a:srgbClr val="1E2D4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2509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30"/>
          <p:cNvSpPr/>
          <p:nvPr/>
        </p:nvSpPr>
        <p:spPr>
          <a:xfrm>
            <a:off x="3127248" y="1243584"/>
            <a:ext cx="2743200" cy="45600"/>
          </a:xfrm>
          <a:prstGeom prst="rect">
            <a:avLst/>
          </a:prstGeom>
          <a:solidFill>
            <a:srgbClr val="818CF8"/>
          </a:solidFill>
          <a:ln w="12700" cap="flat" cmpd="sng">
            <a:solidFill>
              <a:srgbClr val="818C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25" name="Google Shape;525;p3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91840" y="1408176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30"/>
          <p:cNvSpPr/>
          <p:nvPr/>
        </p:nvSpPr>
        <p:spPr>
          <a:xfrm>
            <a:off x="3785616" y="1426464"/>
            <a:ext cx="1938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GB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Trending Topics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30"/>
          <p:cNvSpPr/>
          <p:nvPr/>
        </p:nvSpPr>
        <p:spPr>
          <a:xfrm>
            <a:off x="3291840" y="1920240"/>
            <a:ext cx="24141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GB" sz="900" i="0" u="none" strike="noStrike" cap="none">
                <a:solidFill>
                  <a:srgbClr val="94A3B8"/>
                </a:solidFill>
                <a:latin typeface="Comic Sans MS"/>
                <a:ea typeface="Comic Sans MS"/>
                <a:cs typeface="Comic Sans MS"/>
                <a:sym typeface="Comic Sans MS"/>
              </a:rPr>
              <a:t>Certain hashtags completely dominate the conversation during major events, with engagement concentrated among a small set.</a:t>
            </a:r>
            <a:endParaRPr sz="900" i="0" u="none" strike="noStrike" cap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28" name="Google Shape;528;p30"/>
          <p:cNvSpPr/>
          <p:nvPr/>
        </p:nvSpPr>
        <p:spPr>
          <a:xfrm>
            <a:off x="5998464" y="1243584"/>
            <a:ext cx="2743200" cy="1572900"/>
          </a:xfrm>
          <a:prstGeom prst="rect">
            <a:avLst/>
          </a:prstGeom>
          <a:solidFill>
            <a:srgbClr val="0D1526"/>
          </a:solidFill>
          <a:ln w="9525" cap="flat" cmpd="sng">
            <a:solidFill>
              <a:srgbClr val="1E2D4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2509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30"/>
          <p:cNvSpPr/>
          <p:nvPr/>
        </p:nvSpPr>
        <p:spPr>
          <a:xfrm>
            <a:off x="5998464" y="1243584"/>
            <a:ext cx="2743200" cy="45600"/>
          </a:xfrm>
          <a:prstGeom prst="rect">
            <a:avLst/>
          </a:prstGeom>
          <a:solidFill>
            <a:srgbClr val="34D399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30" name="Google Shape;530;p30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63056" y="1408176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30"/>
          <p:cNvSpPr/>
          <p:nvPr/>
        </p:nvSpPr>
        <p:spPr>
          <a:xfrm>
            <a:off x="6656832" y="1426464"/>
            <a:ext cx="1938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GB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Influential Users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30"/>
          <p:cNvSpPr/>
          <p:nvPr/>
        </p:nvSpPr>
        <p:spPr>
          <a:xfrm>
            <a:off x="6163056" y="1920240"/>
            <a:ext cx="24141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GB" sz="900" i="0" u="none" strike="noStrike" cap="none">
                <a:solidFill>
                  <a:srgbClr val="94A3B8"/>
                </a:solidFill>
                <a:latin typeface="Comic Sans MS"/>
                <a:ea typeface="Comic Sans MS"/>
                <a:cs typeface="Comic Sans MS"/>
                <a:sym typeface="Comic Sans MS"/>
              </a:rPr>
              <a:t>Verified accounts generate significantly more engagement — 3-5× higher retweet rates compared to non-verified users.</a:t>
            </a:r>
            <a:endParaRPr sz="900" i="0" u="none" strike="noStrike" cap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33" name="Google Shape;533;p30"/>
          <p:cNvSpPr/>
          <p:nvPr/>
        </p:nvSpPr>
        <p:spPr>
          <a:xfrm>
            <a:off x="256032" y="2999232"/>
            <a:ext cx="2743200" cy="1572900"/>
          </a:xfrm>
          <a:prstGeom prst="rect">
            <a:avLst/>
          </a:prstGeom>
          <a:solidFill>
            <a:srgbClr val="0D1526"/>
          </a:solidFill>
          <a:ln w="9525" cap="flat" cmpd="sng">
            <a:solidFill>
              <a:srgbClr val="1E2D4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2509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30"/>
          <p:cNvSpPr/>
          <p:nvPr/>
        </p:nvSpPr>
        <p:spPr>
          <a:xfrm>
            <a:off x="256032" y="2999232"/>
            <a:ext cx="2743200" cy="45600"/>
          </a:xfrm>
          <a:prstGeom prst="rect">
            <a:avLst/>
          </a:prstGeom>
          <a:solidFill>
            <a:srgbClr val="FB923C"/>
          </a:solidFill>
          <a:ln w="12700" cap="flat" cmpd="sng">
            <a:solidFill>
              <a:srgbClr val="FB92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35" name="Google Shape;535;p30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20624" y="3163824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30"/>
          <p:cNvSpPr/>
          <p:nvPr/>
        </p:nvSpPr>
        <p:spPr>
          <a:xfrm>
            <a:off x="914400" y="3182112"/>
            <a:ext cx="1938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GB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Engagement Analysis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30"/>
          <p:cNvSpPr/>
          <p:nvPr/>
        </p:nvSpPr>
        <p:spPr>
          <a:xfrm>
            <a:off x="420624" y="3675888"/>
            <a:ext cx="24141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GB" sz="900" i="0" u="none" strike="noStrike" cap="none">
                <a:solidFill>
                  <a:srgbClr val="94A3B8"/>
                </a:solidFill>
                <a:latin typeface="Comic Sans MS"/>
                <a:ea typeface="Comic Sans MS"/>
                <a:cs typeface="Comic Sans MS"/>
                <a:sym typeface="Comic Sans MS"/>
              </a:rPr>
              <a:t>Tweets expressing strong opinions (positive or negative) consistently attract higher engagement than neutral statements.</a:t>
            </a:r>
            <a:endParaRPr sz="900" i="0" u="none" strike="noStrike" cap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38" name="Google Shape;538;p30"/>
          <p:cNvSpPr/>
          <p:nvPr/>
        </p:nvSpPr>
        <p:spPr>
          <a:xfrm>
            <a:off x="3127248" y="2999232"/>
            <a:ext cx="2743200" cy="1572900"/>
          </a:xfrm>
          <a:prstGeom prst="rect">
            <a:avLst/>
          </a:prstGeom>
          <a:solidFill>
            <a:srgbClr val="0D1526"/>
          </a:solidFill>
          <a:ln w="9525" cap="flat" cmpd="sng">
            <a:solidFill>
              <a:srgbClr val="1E2D4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2509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30"/>
          <p:cNvSpPr/>
          <p:nvPr/>
        </p:nvSpPr>
        <p:spPr>
          <a:xfrm>
            <a:off x="3127248" y="2999232"/>
            <a:ext cx="2743200" cy="45600"/>
          </a:xfrm>
          <a:prstGeom prst="rect">
            <a:avLst/>
          </a:prstGeom>
          <a:solidFill>
            <a:srgbClr val="FBBF24"/>
          </a:solidFill>
          <a:ln w="12700" cap="flat" cmpd="sng">
            <a:solidFill>
              <a:srgbClr val="FBBF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40" name="Google Shape;540;p30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291840" y="3163824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30"/>
          <p:cNvSpPr/>
          <p:nvPr/>
        </p:nvSpPr>
        <p:spPr>
          <a:xfrm>
            <a:off x="3785616" y="3182112"/>
            <a:ext cx="1938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GB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Time-Based Patterns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30"/>
          <p:cNvSpPr/>
          <p:nvPr/>
        </p:nvSpPr>
        <p:spPr>
          <a:xfrm>
            <a:off x="3291840" y="3675888"/>
            <a:ext cx="24141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GB" sz="900" i="0" u="none" strike="noStrike" cap="none">
                <a:solidFill>
                  <a:srgbClr val="94A3B8"/>
                </a:solidFill>
                <a:latin typeface="Comic Sans MS"/>
                <a:ea typeface="Comic Sans MS"/>
                <a:cs typeface="Comic Sans MS"/>
                <a:sym typeface="Comic Sans MS"/>
              </a:rPr>
              <a:t>Sentiment fluctuates significantly during live political debates, with real-time spikes detectable within minutes.</a:t>
            </a:r>
            <a:endParaRPr sz="900" i="0" u="none" strike="noStrike" cap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43" name="Google Shape;543;p30"/>
          <p:cNvSpPr/>
          <p:nvPr/>
        </p:nvSpPr>
        <p:spPr>
          <a:xfrm>
            <a:off x="5998464" y="2999232"/>
            <a:ext cx="2743200" cy="1572900"/>
          </a:xfrm>
          <a:prstGeom prst="rect">
            <a:avLst/>
          </a:prstGeom>
          <a:solidFill>
            <a:srgbClr val="0D1526"/>
          </a:solidFill>
          <a:ln w="9525" cap="flat" cmpd="sng">
            <a:solidFill>
              <a:srgbClr val="1E2D4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2509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p30"/>
          <p:cNvSpPr/>
          <p:nvPr/>
        </p:nvSpPr>
        <p:spPr>
          <a:xfrm>
            <a:off x="5998464" y="2999232"/>
            <a:ext cx="2743200" cy="45600"/>
          </a:xfrm>
          <a:prstGeom prst="rect">
            <a:avLst/>
          </a:prstGeom>
          <a:solidFill>
            <a:srgbClr val="34D399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p30"/>
          <p:cNvSpPr/>
          <p:nvPr/>
        </p:nvSpPr>
        <p:spPr>
          <a:xfrm>
            <a:off x="5998464" y="2999232"/>
            <a:ext cx="2743200" cy="1572900"/>
          </a:xfrm>
          <a:prstGeom prst="rect">
            <a:avLst/>
          </a:prstGeom>
          <a:solidFill>
            <a:srgbClr val="071A2E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p30"/>
          <p:cNvSpPr/>
          <p:nvPr/>
        </p:nvSpPr>
        <p:spPr>
          <a:xfrm>
            <a:off x="5998464" y="2999232"/>
            <a:ext cx="2743200" cy="45600"/>
          </a:xfrm>
          <a:prstGeom prst="rect">
            <a:avLst/>
          </a:prstGeom>
          <a:solidFill>
            <a:srgbClr val="34D399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30"/>
          <p:cNvSpPr/>
          <p:nvPr/>
        </p:nvSpPr>
        <p:spPr>
          <a:xfrm>
            <a:off x="6163056" y="3127248"/>
            <a:ext cx="2414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000"/>
              <a:buFont typeface="Calibri"/>
              <a:buNone/>
            </a:pPr>
            <a:r>
              <a:rPr lang="en-GB" sz="1000" b="1" i="0" u="none" strike="noStrike" cap="non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Pipeline Impact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30"/>
          <p:cNvSpPr/>
          <p:nvPr/>
        </p:nvSpPr>
        <p:spPr>
          <a:xfrm>
            <a:off x="6163056" y="3438144"/>
            <a:ext cx="24141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GB" sz="1000" i="0" u="none" strike="noStrike" cap="none">
                <a:solidFill>
                  <a:srgbClr val="E2E8F0"/>
                </a:solidFill>
                <a:latin typeface="Comic Sans MS"/>
                <a:ea typeface="Comic Sans MS"/>
                <a:cs typeface="Comic Sans MS"/>
                <a:sym typeface="Comic Sans MS"/>
              </a:rPr>
              <a:t>Real-time insights</a:t>
            </a:r>
            <a:endParaRPr sz="1000" i="0" u="none" strike="noStrike" cap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GB" sz="1000" i="0" u="none" strike="noStrike" cap="none">
                <a:solidFill>
                  <a:srgbClr val="E2E8F0"/>
                </a:solidFill>
                <a:latin typeface="Comic Sans MS"/>
                <a:ea typeface="Comic Sans MS"/>
                <a:cs typeface="Comic Sans MS"/>
                <a:sym typeface="Comic Sans MS"/>
              </a:rPr>
              <a:t>delivered in &lt; 60s</a:t>
            </a:r>
            <a:endParaRPr sz="1000" i="0" u="none" strike="noStrike" cap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GB" sz="1000" i="0" u="none" strike="noStrike" cap="none">
                <a:solidFill>
                  <a:srgbClr val="E2E8F0"/>
                </a:solidFill>
                <a:latin typeface="Comic Sans MS"/>
                <a:ea typeface="Comic Sans MS"/>
                <a:cs typeface="Comic Sans MS"/>
                <a:sym typeface="Comic Sans MS"/>
              </a:rPr>
              <a:t>end-to-end latency</a:t>
            </a:r>
            <a:endParaRPr sz="1000" i="0" u="none" strike="noStrike" cap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A"/>
        </a:solidFill>
        <a:effectLst/>
      </p:bgPr>
    </p:bg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3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8BDF8"/>
          </a:solidFill>
          <a:ln w="127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p31"/>
          <p:cNvSpPr/>
          <p:nvPr/>
        </p:nvSpPr>
        <p:spPr>
          <a:xfrm>
            <a:off x="54864" y="0"/>
            <a:ext cx="9089136" cy="5143500"/>
          </a:xfrm>
          <a:prstGeom prst="rect">
            <a:avLst/>
          </a:prstGeom>
          <a:solidFill>
            <a:srgbClr val="080D1A"/>
          </a:solidFill>
          <a:ln w="12700" cap="flat" cmpd="sng">
            <a:solidFill>
              <a:srgbClr val="080D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31"/>
          <p:cNvSpPr/>
          <p:nvPr/>
        </p:nvSpPr>
        <p:spPr>
          <a:xfrm>
            <a:off x="5943600" y="457200"/>
            <a:ext cx="3200400" cy="3200400"/>
          </a:xfrm>
          <a:prstGeom prst="ellipse">
            <a:avLst/>
          </a:prstGeom>
          <a:solidFill>
            <a:srgbClr val="38BDF8">
              <a:alpha val="7058"/>
            </a:srgbClr>
          </a:solidFill>
          <a:ln w="12700" cap="flat" cmpd="sng">
            <a:solidFill>
              <a:srgbClr val="38BDF8">
                <a:alpha val="1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31"/>
          <p:cNvSpPr/>
          <p:nvPr/>
        </p:nvSpPr>
        <p:spPr>
          <a:xfrm>
            <a:off x="6400800" y="2286000"/>
            <a:ext cx="2286000" cy="2286000"/>
          </a:xfrm>
          <a:prstGeom prst="ellipse">
            <a:avLst/>
          </a:prstGeom>
          <a:solidFill>
            <a:srgbClr val="818CF8">
              <a:alpha val="12156"/>
            </a:srgbClr>
          </a:solidFill>
          <a:ln w="12700" cap="flat" cmpd="sng">
            <a:solidFill>
              <a:srgbClr val="818CF8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p31"/>
          <p:cNvSpPr/>
          <p:nvPr/>
        </p:nvSpPr>
        <p:spPr>
          <a:xfrm>
            <a:off x="256032" y="1097280"/>
            <a:ext cx="548640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lang="en-GB" sz="5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sz="5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31"/>
          <p:cNvSpPr/>
          <p:nvPr/>
        </p:nvSpPr>
        <p:spPr>
          <a:xfrm>
            <a:off x="256032" y="2377440"/>
            <a:ext cx="2743200" cy="45720"/>
          </a:xfrm>
          <a:prstGeom prst="rect">
            <a:avLst/>
          </a:prstGeom>
          <a:solidFill>
            <a:srgbClr val="38BDF8"/>
          </a:solidFill>
          <a:ln w="127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31"/>
          <p:cNvSpPr/>
          <p:nvPr/>
        </p:nvSpPr>
        <p:spPr>
          <a:xfrm>
            <a:off x="256032" y="2523744"/>
            <a:ext cx="56692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GB" sz="1100" i="0" u="none" strike="noStrike" cap="none">
                <a:solidFill>
                  <a:srgbClr val="94A3B8"/>
                </a:solidFill>
                <a:latin typeface="Comic Sans MS"/>
                <a:ea typeface="Comic Sans MS"/>
                <a:cs typeface="Comic Sans MS"/>
                <a:sym typeface="Comic Sans MS"/>
              </a:rPr>
              <a:t>This project demonstrates a scalable ETL pipeline for real-time social media sentiment analysis using modern data engineering tools and best practices.</a:t>
            </a:r>
            <a:endParaRPr sz="1100" i="0" u="none" strike="noStrike" cap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61" name="Google Shape;561;p31"/>
          <p:cNvSpPr/>
          <p:nvPr/>
        </p:nvSpPr>
        <p:spPr>
          <a:xfrm>
            <a:off x="256032" y="3383280"/>
            <a:ext cx="1353312" cy="329184"/>
          </a:xfrm>
          <a:prstGeom prst="rect">
            <a:avLst/>
          </a:prstGeom>
          <a:solidFill>
            <a:srgbClr val="0F1F38"/>
          </a:solidFill>
          <a:ln w="127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2" name="Google Shape;562;p31"/>
          <p:cNvSpPr/>
          <p:nvPr/>
        </p:nvSpPr>
        <p:spPr>
          <a:xfrm>
            <a:off x="256032" y="3383280"/>
            <a:ext cx="135331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850"/>
              <a:buFont typeface="Calibri"/>
              <a:buNone/>
            </a:pPr>
            <a:r>
              <a:rPr lang="en-GB" sz="850" b="1" i="0" u="none" strike="noStrike" cap="non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Amazon Kinesis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31"/>
          <p:cNvSpPr/>
          <p:nvPr/>
        </p:nvSpPr>
        <p:spPr>
          <a:xfrm>
            <a:off x="1700784" y="3383280"/>
            <a:ext cx="1353312" cy="329184"/>
          </a:xfrm>
          <a:prstGeom prst="rect">
            <a:avLst/>
          </a:prstGeom>
          <a:solidFill>
            <a:srgbClr val="0F1F38"/>
          </a:solidFill>
          <a:ln w="127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4" name="Google Shape;564;p31"/>
          <p:cNvSpPr/>
          <p:nvPr/>
        </p:nvSpPr>
        <p:spPr>
          <a:xfrm>
            <a:off x="1700784" y="3383280"/>
            <a:ext cx="135331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850"/>
              <a:buFont typeface="Calibri"/>
              <a:buNone/>
            </a:pPr>
            <a:r>
              <a:rPr lang="en-GB" sz="850" b="1" i="0" u="none" strike="noStrike" cap="non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Databricks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31"/>
          <p:cNvSpPr/>
          <p:nvPr/>
        </p:nvSpPr>
        <p:spPr>
          <a:xfrm>
            <a:off x="3145536" y="3383280"/>
            <a:ext cx="1353312" cy="329184"/>
          </a:xfrm>
          <a:prstGeom prst="rect">
            <a:avLst/>
          </a:prstGeom>
          <a:solidFill>
            <a:srgbClr val="0F1F38"/>
          </a:solidFill>
          <a:ln w="127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6" name="Google Shape;566;p31"/>
          <p:cNvSpPr/>
          <p:nvPr/>
        </p:nvSpPr>
        <p:spPr>
          <a:xfrm>
            <a:off x="3145536" y="3383280"/>
            <a:ext cx="135331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850"/>
              <a:buFont typeface="Calibri"/>
              <a:buNone/>
            </a:pPr>
            <a:r>
              <a:rPr lang="en-GB" sz="850" b="1" i="0" u="none" strike="noStrike" cap="non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Apache Spark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31"/>
          <p:cNvSpPr/>
          <p:nvPr/>
        </p:nvSpPr>
        <p:spPr>
          <a:xfrm>
            <a:off x="4590288" y="3383280"/>
            <a:ext cx="1353312" cy="329184"/>
          </a:xfrm>
          <a:prstGeom prst="rect">
            <a:avLst/>
          </a:prstGeom>
          <a:solidFill>
            <a:srgbClr val="0F1F38"/>
          </a:solidFill>
          <a:ln w="127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31"/>
          <p:cNvSpPr/>
          <p:nvPr/>
        </p:nvSpPr>
        <p:spPr>
          <a:xfrm>
            <a:off x="4590288" y="3383280"/>
            <a:ext cx="135331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850"/>
              <a:buFont typeface="Calibri"/>
              <a:buNone/>
            </a:pPr>
            <a:r>
              <a:rPr lang="en-GB" sz="850" b="1" i="0" u="none" strike="noStrike" cap="non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Delta Lake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31"/>
          <p:cNvSpPr/>
          <p:nvPr/>
        </p:nvSpPr>
        <p:spPr>
          <a:xfrm>
            <a:off x="6035040" y="3383280"/>
            <a:ext cx="1353312" cy="329184"/>
          </a:xfrm>
          <a:prstGeom prst="rect">
            <a:avLst/>
          </a:prstGeom>
          <a:solidFill>
            <a:srgbClr val="0F1F38"/>
          </a:solidFill>
          <a:ln w="127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0" name="Google Shape;570;p31"/>
          <p:cNvSpPr/>
          <p:nvPr/>
        </p:nvSpPr>
        <p:spPr>
          <a:xfrm>
            <a:off x="6035040" y="3383280"/>
            <a:ext cx="135331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850"/>
              <a:buFont typeface="Calibri"/>
              <a:buNone/>
            </a:pPr>
            <a:r>
              <a:rPr lang="en-GB" sz="850" b="1" i="0" u="none" strike="noStrike" cap="non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dbt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31"/>
          <p:cNvSpPr/>
          <p:nvPr/>
        </p:nvSpPr>
        <p:spPr>
          <a:xfrm>
            <a:off x="7479792" y="3383280"/>
            <a:ext cx="1353312" cy="329184"/>
          </a:xfrm>
          <a:prstGeom prst="rect">
            <a:avLst/>
          </a:prstGeom>
          <a:solidFill>
            <a:srgbClr val="0F1F38"/>
          </a:solidFill>
          <a:ln w="127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2" name="Google Shape;572;p31"/>
          <p:cNvSpPr/>
          <p:nvPr/>
        </p:nvSpPr>
        <p:spPr>
          <a:xfrm>
            <a:off x="7479792" y="3383280"/>
            <a:ext cx="135331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850"/>
              <a:buFont typeface="Calibri"/>
              <a:buNone/>
            </a:pPr>
            <a:r>
              <a:rPr lang="en-GB" sz="850" b="1" i="0" u="none" strike="noStrike" cap="non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Power BI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31"/>
          <p:cNvSpPr/>
          <p:nvPr/>
        </p:nvSpPr>
        <p:spPr>
          <a:xfrm>
            <a:off x="256032" y="3913632"/>
            <a:ext cx="85953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GB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Gullanki Vara Naga Sai Sree  ·  Peruri Sireesha  ·  Sahana P  ·  Subhadip Sasmal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31"/>
          <p:cNvSpPr/>
          <p:nvPr/>
        </p:nvSpPr>
        <p:spPr>
          <a:xfrm>
            <a:off x="54864" y="4910328"/>
            <a:ext cx="9089136" cy="233172"/>
          </a:xfrm>
          <a:prstGeom prst="rect">
            <a:avLst/>
          </a:prstGeom>
          <a:solidFill>
            <a:srgbClr val="0F1F38"/>
          </a:solidFill>
          <a:ln w="12700" cap="flat" cmpd="sng">
            <a:solidFill>
              <a:srgbClr val="0F1F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5" name="Google Shape;575;p31"/>
          <p:cNvSpPr/>
          <p:nvPr/>
        </p:nvSpPr>
        <p:spPr>
          <a:xfrm>
            <a:off x="256032" y="4919472"/>
            <a:ext cx="85953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GB" sz="8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Real-Time Social Media Sentiment Analysis Pipeline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31"/>
          <p:cNvSpPr/>
          <p:nvPr/>
        </p:nvSpPr>
        <p:spPr>
          <a:xfrm>
            <a:off x="7955280" y="4919472"/>
            <a:ext cx="1097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GB" sz="8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GB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lang="en-GB" sz="8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/ 1</a:t>
            </a:r>
            <a:r>
              <a:rPr lang="en-GB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1629</Words>
  <Application>Microsoft Office PowerPoint</Application>
  <PresentationFormat>On-screen Show (16:9)</PresentationFormat>
  <Paragraphs>258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Georgia</vt:lpstr>
      <vt:lpstr>Arial</vt:lpstr>
      <vt:lpstr>Comfortaa</vt:lpstr>
      <vt:lpstr>Roboto Mono</vt:lpstr>
      <vt:lpstr>Comic Sans MS</vt:lpstr>
      <vt:lpstr>Calibri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welcome</dc:creator>
  <cp:lastModifiedBy>Sahana P</cp:lastModifiedBy>
  <cp:revision>1</cp:revision>
  <dcterms:modified xsi:type="dcterms:W3CDTF">2026-03-20T09:48:48Z</dcterms:modified>
</cp:coreProperties>
</file>